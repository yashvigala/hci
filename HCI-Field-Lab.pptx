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6812280"/>
            <a:ext cx="12161520" cy="45720"/>
          </a:xfrm>
          <a:prstGeom prst="rect">
            <a:avLst/>
          </a:prstGeom>
          <a:solidFill>
            <a:srgbClr val="E8B547"/>
          </a:solidFill>
          <a:ln/>
        </p:spPr>
      </p:sp>
      <p:sp>
        <p:nvSpPr>
          <p:cNvPr id="3" name="Text 1"/>
          <p:cNvSpPr/>
          <p:nvPr/>
        </p:nvSpPr>
        <p:spPr>
          <a:xfrm>
            <a:off x="640080" y="502920"/>
            <a:ext cx="10972800" cy="320040"/>
          </a:xfrm>
          <a:prstGeom prst="rect">
            <a:avLst/>
          </a:prstGeom>
          <a:noFill/>
          <a:ln/>
        </p:spPr>
        <p:txBody>
          <a:bodyPr wrap="square" lIns="0" tIns="0" rIns="0" bIns="0" rtlCol="0" anchor="ctr"/>
          <a:lstStyle/>
          <a:p>
            <a:pPr indent="0" marL="0">
              <a:buNone/>
            </a:pPr>
            <a:r>
              <a:rPr lang="en-US" sz="1100" spc="500" kern="0" dirty="0">
                <a:solidFill>
                  <a:srgbClr val="BCB5A6"/>
                </a:solidFill>
                <a:latin typeface="Consolas" pitchFamily="34" charset="0"/>
                <a:ea typeface="Consolas" pitchFamily="34" charset="-122"/>
                <a:cs typeface="Consolas" pitchFamily="34" charset="-120"/>
              </a:rPr>
              <a:t>FIELD LAB · A FIELD LABORATORY OF HCI PRINCIPLES</a:t>
            </a:r>
            <a:endParaRPr lang="en-US" sz="1100" dirty="0"/>
          </a:p>
        </p:txBody>
      </p:sp>
      <p:sp>
        <p:nvSpPr>
          <p:cNvPr id="4" name="Text 2"/>
          <p:cNvSpPr/>
          <p:nvPr/>
        </p:nvSpPr>
        <p:spPr>
          <a:xfrm>
            <a:off x="640080" y="1554480"/>
            <a:ext cx="10972800" cy="3657600"/>
          </a:xfrm>
          <a:prstGeom prst="rect">
            <a:avLst/>
          </a:prstGeom>
          <a:noFill/>
          <a:ln/>
        </p:spPr>
        <p:txBody>
          <a:bodyPr wrap="square" lIns="0" tIns="0" rIns="0" bIns="0" rtlCol="0" anchor="ctr"/>
          <a:lstStyle/>
          <a:p>
            <a:pPr indent="0" marL="0">
              <a:buNone/>
            </a:pPr>
            <a:r>
              <a:rPr lang="en-US" sz="11000" spc="-200" kern="0" dirty="0">
                <a:solidFill>
                  <a:srgbClr val="EDEAE0"/>
                </a:solidFill>
                <a:latin typeface="Georgia" pitchFamily="34" charset="0"/>
                <a:ea typeface="Georgia" pitchFamily="34" charset="-122"/>
                <a:cs typeface="Georgia" pitchFamily="34" charset="-120"/>
              </a:rPr>
              <a:t>Don't </a:t>
            </a:r>
            <a:pPr indent="0" marL="0">
              <a:buNone/>
            </a:pPr>
            <a:r>
              <a:rPr lang="en-US" sz="11000" i="1" spc="-200" kern="0" dirty="0">
                <a:solidFill>
                  <a:srgbClr val="E8B547"/>
                </a:solidFill>
                <a:latin typeface="Georgia" pitchFamily="34" charset="0"/>
                <a:ea typeface="Georgia" pitchFamily="34" charset="-122"/>
                <a:cs typeface="Georgia" pitchFamily="34" charset="-120"/>
              </a:rPr>
              <a:t>read</a:t>
            </a:r>
            <a:pPr indent="0" marL="0">
              <a:buNone/>
            </a:pPr>
            <a:r>
              <a:rPr lang="en-US" sz="11000" spc="-200" kern="0" dirty="0">
                <a:solidFill>
                  <a:srgbClr val="EDEAE0"/>
                </a:solidFill>
                <a:latin typeface="Georgia" pitchFamily="34" charset="0"/>
                <a:ea typeface="Georgia" pitchFamily="34" charset="-122"/>
                <a:cs typeface="Georgia" pitchFamily="34" charset="-120"/>
              </a:rPr>
              <a:t> about HCI.</a:t>
            </a:r>
            <a:endParaRPr lang="en-US" sz="11000" dirty="0"/>
          </a:p>
          <a:p>
            <a:pPr indent="0" marL="0">
              <a:buNone/>
            </a:pPr>
            <a:r>
              <a:rPr lang="en-US" sz="11000" i="1" spc="-200" kern="0" dirty="0">
                <a:solidFill>
                  <a:srgbClr val="E8B547"/>
                </a:solidFill>
                <a:latin typeface="Georgia" pitchFamily="34" charset="0"/>
                <a:ea typeface="Georgia" pitchFamily="34" charset="-122"/>
                <a:cs typeface="Georgia" pitchFamily="34" charset="-120"/>
              </a:rPr>
              <a:t>Touch</a:t>
            </a:r>
            <a:pPr indent="0" marL="0">
              <a:buNone/>
            </a:pPr>
            <a:r>
              <a:rPr lang="en-US" sz="11000" spc="-200" kern="0" dirty="0">
                <a:solidFill>
                  <a:srgbClr val="EDEAE0"/>
                </a:solidFill>
                <a:latin typeface="Georgia" pitchFamily="34" charset="0"/>
                <a:ea typeface="Georgia" pitchFamily="34" charset="-122"/>
                <a:cs typeface="Georgia" pitchFamily="34" charset="-120"/>
              </a:rPr>
              <a:t> it.</a:t>
            </a:r>
            <a:endParaRPr lang="en-US" sz="11000" dirty="0"/>
          </a:p>
        </p:txBody>
      </p:sp>
      <p:sp>
        <p:nvSpPr>
          <p:cNvPr id="5" name="Text 3"/>
          <p:cNvSpPr/>
          <p:nvPr/>
        </p:nvSpPr>
        <p:spPr>
          <a:xfrm>
            <a:off x="640080" y="5486400"/>
            <a:ext cx="10972800" cy="320040"/>
          </a:xfrm>
          <a:prstGeom prst="rect">
            <a:avLst/>
          </a:prstGeom>
          <a:noFill/>
          <a:ln/>
        </p:spPr>
        <p:txBody>
          <a:bodyPr wrap="square" lIns="0" tIns="0" rIns="0" bIns="0" rtlCol="0" anchor="ctr"/>
          <a:lstStyle/>
          <a:p>
            <a:pPr indent="0" marL="0">
              <a:buNone/>
            </a:pPr>
            <a:r>
              <a:rPr lang="en-US" sz="1400" dirty="0">
                <a:solidFill>
                  <a:srgbClr val="BCB5A6"/>
                </a:solidFill>
                <a:latin typeface="Calibri" pitchFamily="34" charset="0"/>
                <a:ea typeface="Calibri" pitchFamily="34" charset="-122"/>
                <a:cs typeface="Calibri" pitchFamily="34" charset="-120"/>
              </a:rPr>
              <a:t>HCI 06.103.115 · IIT Guwahati · Dr. Samit Bhattacharya</a:t>
            </a:r>
            <a:endParaRPr lang="en-US" sz="1400" dirty="0"/>
          </a:p>
        </p:txBody>
      </p:sp>
      <p:sp>
        <p:nvSpPr>
          <p:cNvPr id="6" name="Text 4"/>
          <p:cNvSpPr/>
          <p:nvPr/>
        </p:nvSpPr>
        <p:spPr>
          <a:xfrm>
            <a:off x="640080" y="5897880"/>
            <a:ext cx="10972800" cy="320040"/>
          </a:xfrm>
          <a:prstGeom prst="rect">
            <a:avLst/>
          </a:prstGeom>
          <a:noFill/>
          <a:ln/>
        </p:spPr>
        <p:txBody>
          <a:bodyPr wrap="square" lIns="0" tIns="0" rIns="0" bIns="0" rtlCol="0" anchor="ctr"/>
          <a:lstStyle/>
          <a:p>
            <a:pPr indent="0" marL="0">
              <a:buNone/>
            </a:pPr>
            <a:r>
              <a:rPr lang="en-US" sz="1300" dirty="0">
                <a:solidFill>
                  <a:srgbClr val="E8B547"/>
                </a:solidFill>
                <a:latin typeface="Consolas" pitchFamily="34" charset="0"/>
                <a:ea typeface="Consolas" pitchFamily="34" charset="-122"/>
                <a:cs typeface="Consolas" pitchFamily="34" charset="-120"/>
              </a:rPr>
              <a:t>github.com/yashvigala/HCI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02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THE BRIEF</a:t>
            </a:r>
            <a:endParaRPr lang="en-US" sz="1000" dirty="0"/>
          </a:p>
        </p:txBody>
      </p:sp>
      <p:sp>
        <p:nvSpPr>
          <p:cNvPr id="6" name="Text 4"/>
          <p:cNvSpPr/>
          <p:nvPr/>
        </p:nvSpPr>
        <p:spPr>
          <a:xfrm>
            <a:off x="640080" y="1280160"/>
            <a:ext cx="10972800" cy="2743200"/>
          </a:xfrm>
          <a:prstGeom prst="rect">
            <a:avLst/>
          </a:prstGeom>
          <a:noFill/>
          <a:ln/>
        </p:spPr>
        <p:txBody>
          <a:bodyPr wrap="square" lIns="0" tIns="0" rIns="0" bIns="0" rtlCol="0" anchor="ctr"/>
          <a:lstStyle/>
          <a:p>
            <a:pPr indent="0" marL="0">
              <a:buNone/>
            </a:pPr>
            <a:r>
              <a:rPr lang="en-US" sz="6400" i="1" spc="-100" kern="0" dirty="0">
                <a:solidFill>
                  <a:srgbClr val="EDEAE0"/>
                </a:solidFill>
                <a:latin typeface="Georgia" pitchFamily="34" charset="0"/>
                <a:ea typeface="Georgia" pitchFamily="34" charset="-122"/>
                <a:cs typeface="Georgia" pitchFamily="34" charset="-120"/>
              </a:rPr>
              <a:t>If a door needs a </a:t>
            </a:r>
            <a:pPr indent="0" marL="0">
              <a:buNone/>
            </a:pPr>
            <a:r>
              <a:rPr lang="en-US" sz="6400" i="1" spc="-100" kern="0" dirty="0">
                <a:solidFill>
                  <a:srgbClr val="E8B547"/>
                </a:solidFill>
                <a:latin typeface="Georgia" pitchFamily="34" charset="0"/>
                <a:ea typeface="Georgia" pitchFamily="34" charset="-122"/>
                <a:cs typeface="Georgia" pitchFamily="34" charset="-120"/>
              </a:rPr>
              <a:t>sign</a:t>
            </a:r>
            <a:pPr indent="0" marL="0">
              <a:buNone/>
            </a:pPr>
            <a:r>
              <a:rPr lang="en-US" sz="6400" i="1" spc="-100" kern="0" dirty="0">
                <a:solidFill>
                  <a:srgbClr val="EDEAE0"/>
                </a:solidFill>
                <a:latin typeface="Georgia" pitchFamily="34" charset="0"/>
                <a:ea typeface="Georgia" pitchFamily="34" charset="-122"/>
                <a:cs typeface="Georgia" pitchFamily="34" charset="-120"/>
              </a:rPr>
              <a:t>,</a:t>
            </a:r>
            <a:endParaRPr lang="en-US" sz="6400" dirty="0"/>
          </a:p>
          <a:p>
            <a:pPr indent="0" marL="0">
              <a:buNone/>
            </a:pPr>
            <a:r>
              <a:rPr lang="en-US" sz="6400" i="1" spc="-100" kern="0" dirty="0">
                <a:solidFill>
                  <a:srgbClr val="EDEAE0"/>
                </a:solidFill>
                <a:latin typeface="Georgia" pitchFamily="34" charset="0"/>
                <a:ea typeface="Georgia" pitchFamily="34" charset="-122"/>
                <a:cs typeface="Georgia" pitchFamily="34" charset="-120"/>
              </a:rPr>
              <a:t>the door is </a:t>
            </a:r>
            <a:pPr indent="0" marL="0">
              <a:buNone/>
            </a:pPr>
            <a:r>
              <a:rPr lang="en-US" sz="6400" i="1" spc="-100" kern="0" dirty="0">
                <a:solidFill>
                  <a:srgbClr val="E8B547"/>
                </a:solidFill>
                <a:latin typeface="Georgia" pitchFamily="34" charset="0"/>
                <a:ea typeface="Georgia" pitchFamily="34" charset="-122"/>
                <a:cs typeface="Georgia" pitchFamily="34" charset="-120"/>
              </a:rPr>
              <a:t>broken</a:t>
            </a:r>
            <a:pPr indent="0" marL="0">
              <a:buNone/>
            </a:pPr>
            <a:r>
              <a:rPr lang="en-US" sz="6400" i="1" spc="-100" kern="0" dirty="0">
                <a:solidFill>
                  <a:srgbClr val="EDEAE0"/>
                </a:solidFill>
                <a:latin typeface="Georgia" pitchFamily="34" charset="0"/>
                <a:ea typeface="Georgia" pitchFamily="34" charset="-122"/>
                <a:cs typeface="Georgia" pitchFamily="34" charset="-120"/>
              </a:rPr>
              <a:t>.</a:t>
            </a:r>
            <a:endParaRPr lang="en-US" sz="6400" dirty="0"/>
          </a:p>
        </p:txBody>
      </p:sp>
      <p:sp>
        <p:nvSpPr>
          <p:cNvPr id="7" name="Text 5"/>
          <p:cNvSpPr/>
          <p:nvPr/>
        </p:nvSpPr>
        <p:spPr>
          <a:xfrm>
            <a:off x="640080" y="4114800"/>
            <a:ext cx="10972800" cy="365760"/>
          </a:xfrm>
          <a:prstGeom prst="rect">
            <a:avLst/>
          </a:prstGeom>
          <a:noFill/>
          <a:ln/>
        </p:spPr>
        <p:txBody>
          <a:bodyPr wrap="square" lIns="0" tIns="0" rIns="0" bIns="0" rtlCol="0" anchor="ctr"/>
          <a:lstStyle/>
          <a:p>
            <a:pPr indent="0" marL="0">
              <a:buNone/>
            </a:pPr>
            <a:r>
              <a:rPr lang="en-US" sz="1300" i="1" dirty="0">
                <a:solidFill>
                  <a:srgbClr val="BCB5A6"/>
                </a:solidFill>
                <a:latin typeface="Calibri" pitchFamily="34" charset="0"/>
                <a:ea typeface="Calibri" pitchFamily="34" charset="-122"/>
                <a:cs typeface="Calibri" pitchFamily="34" charset="-120"/>
              </a:rPr>
              <a:t>— Donald A. Norman, The Design of Everyday Things</a:t>
            </a:r>
            <a:endParaRPr lang="en-US" sz="1300" dirty="0"/>
          </a:p>
        </p:txBody>
      </p:sp>
      <p:sp>
        <p:nvSpPr>
          <p:cNvPr id="8" name="Text 6"/>
          <p:cNvSpPr/>
          <p:nvPr/>
        </p:nvSpPr>
        <p:spPr>
          <a:xfrm>
            <a:off x="640080" y="4937760"/>
            <a:ext cx="5486400" cy="365760"/>
          </a:xfrm>
          <a:prstGeom prst="rect">
            <a:avLst/>
          </a:prstGeom>
          <a:noFill/>
          <a:ln/>
        </p:spPr>
        <p:txBody>
          <a:bodyPr wrap="square" lIns="0" tIns="0" rIns="0" bIns="0" rtlCol="0" anchor="ctr"/>
          <a:lstStyle/>
          <a:p>
            <a:pPr indent="0" marL="0">
              <a:buNone/>
            </a:pPr>
            <a:r>
              <a:rPr lang="en-US" sz="1000" spc="500" kern="0" dirty="0">
                <a:solidFill>
                  <a:srgbClr val="5DBFA9"/>
                </a:solidFill>
                <a:latin typeface="Consolas" pitchFamily="34" charset="0"/>
                <a:ea typeface="Consolas" pitchFamily="34" charset="-122"/>
                <a:cs typeface="Consolas" pitchFamily="34" charset="-120"/>
              </a:rPr>
              <a:t>The goal:</a:t>
            </a:r>
            <a:endParaRPr lang="en-US" sz="1000" dirty="0"/>
          </a:p>
        </p:txBody>
      </p:sp>
      <p:sp>
        <p:nvSpPr>
          <p:cNvPr id="9" name="Text 7"/>
          <p:cNvSpPr/>
          <p:nvPr/>
        </p:nvSpPr>
        <p:spPr>
          <a:xfrm>
            <a:off x="640080" y="5257800"/>
            <a:ext cx="10881360" cy="1097280"/>
          </a:xfrm>
          <a:prstGeom prst="rect">
            <a:avLst/>
          </a:prstGeom>
          <a:noFill/>
          <a:ln/>
        </p:spPr>
        <p:txBody>
          <a:bodyPr wrap="square" lIns="0" tIns="0" rIns="0" bIns="0" rtlCol="0" anchor="ctr"/>
          <a:lstStyle/>
          <a:p>
            <a:pPr indent="0" marL="0">
              <a:buNone/>
            </a:pPr>
            <a:r>
              <a:rPr lang="en-US" sz="1500" dirty="0">
                <a:solidFill>
                  <a:srgbClr val="EDEAE0"/>
                </a:solidFill>
                <a:latin typeface="Calibri" pitchFamily="34" charset="0"/>
                <a:ea typeface="Calibri" pitchFamily="34" charset="-122"/>
                <a:cs typeface="Calibri" pitchFamily="34" charset="-120"/>
              </a:rPr>
              <a:t>Prove I understood every principle by building a working instrument for each one. Don't write about Fitts's Law — build a tappable target. Don't paraphrase Nielsen — show ten broken UIs side-by-side with their fixes.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03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EIGHT INSTRUMENTS</a:t>
            </a:r>
            <a:endParaRPr lang="en-US" sz="1000" dirty="0"/>
          </a:p>
        </p:txBody>
      </p:sp>
      <p:sp>
        <p:nvSpPr>
          <p:cNvPr id="6" name="Text 4"/>
          <p:cNvSpPr/>
          <p:nvPr/>
        </p:nvSpPr>
        <p:spPr>
          <a:xfrm>
            <a:off x="640080" y="868680"/>
            <a:ext cx="10972800" cy="1005840"/>
          </a:xfrm>
          <a:prstGeom prst="rect">
            <a:avLst/>
          </a:prstGeom>
          <a:noFill/>
          <a:ln/>
        </p:spPr>
        <p:txBody>
          <a:bodyPr wrap="square" lIns="0" tIns="0" rIns="0" bIns="0" rtlCol="0" anchor="ctr"/>
          <a:lstStyle/>
          <a:p>
            <a:pPr indent="0" marL="0">
              <a:buNone/>
            </a:pPr>
            <a:r>
              <a:rPr lang="en-US" sz="5400" spc="-100" kern="0" dirty="0">
                <a:solidFill>
                  <a:srgbClr val="EDEAE0"/>
                </a:solidFill>
                <a:latin typeface="Georgia" pitchFamily="34" charset="0"/>
                <a:ea typeface="Georgia" pitchFamily="34" charset="-122"/>
                <a:cs typeface="Georgia" pitchFamily="34" charset="-120"/>
              </a:rPr>
              <a:t>On </a:t>
            </a:r>
            <a:pPr indent="0" marL="0">
              <a:buNone/>
            </a:pPr>
            <a:r>
              <a:rPr lang="en-US" sz="5400" i="1" spc="-100" kern="0" dirty="0">
                <a:solidFill>
                  <a:srgbClr val="E8B547"/>
                </a:solidFill>
                <a:latin typeface="Georgia" pitchFamily="34" charset="0"/>
                <a:ea typeface="Georgia" pitchFamily="34" charset="-122"/>
                <a:cs typeface="Georgia" pitchFamily="34" charset="-120"/>
              </a:rPr>
              <a:t>one</a:t>
            </a:r>
            <a:pPr indent="0" marL="0">
              <a:buNone/>
            </a:pPr>
            <a:r>
              <a:rPr lang="en-US" sz="5400" spc="-100" kern="0" dirty="0">
                <a:solidFill>
                  <a:srgbClr val="EDEAE0"/>
                </a:solidFill>
                <a:latin typeface="Georgia" pitchFamily="34" charset="0"/>
                <a:ea typeface="Georgia" pitchFamily="34" charset="-122"/>
                <a:cs typeface="Georgia" pitchFamily="34" charset="-120"/>
              </a:rPr>
              <a:t> page.</a:t>
            </a:r>
            <a:endParaRPr lang="en-US" sz="5400" dirty="0"/>
          </a:p>
        </p:txBody>
      </p:sp>
      <p:sp>
        <p:nvSpPr>
          <p:cNvPr id="7" name="Shape 5"/>
          <p:cNvSpPr/>
          <p:nvPr/>
        </p:nvSpPr>
        <p:spPr>
          <a:xfrm>
            <a:off x="640080" y="2286000"/>
            <a:ext cx="2697480" cy="1783080"/>
          </a:xfrm>
          <a:prstGeom prst="rect">
            <a:avLst/>
          </a:prstGeom>
          <a:solidFill>
            <a:srgbClr val="13131A"/>
          </a:solidFill>
          <a:ln w="6350">
            <a:solidFill>
              <a:srgbClr val="2A2A35"/>
            </a:solidFill>
            <a:prstDash val="solid"/>
          </a:ln>
        </p:spPr>
      </p:sp>
      <p:sp>
        <p:nvSpPr>
          <p:cNvPr id="8" name="Text 6"/>
          <p:cNvSpPr/>
          <p:nvPr/>
        </p:nvSpPr>
        <p:spPr>
          <a:xfrm>
            <a:off x="777240" y="2423160"/>
            <a:ext cx="13716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 01</a:t>
            </a:r>
            <a:endParaRPr lang="en-US" sz="900" dirty="0"/>
          </a:p>
        </p:txBody>
      </p:sp>
      <p:sp>
        <p:nvSpPr>
          <p:cNvPr id="9" name="Text 7"/>
          <p:cNvSpPr/>
          <p:nvPr/>
        </p:nvSpPr>
        <p:spPr>
          <a:xfrm>
            <a:off x="777240" y="2743200"/>
            <a:ext cx="2423160" cy="640080"/>
          </a:xfrm>
          <a:prstGeom prst="rect">
            <a:avLst/>
          </a:prstGeom>
          <a:noFill/>
          <a:ln/>
        </p:spPr>
        <p:txBody>
          <a:bodyPr wrap="square" lIns="0" tIns="0" rIns="0" bIns="0" rtlCol="0" anchor="ctr"/>
          <a:lstStyle/>
          <a:p>
            <a:pPr indent="0" marL="0">
              <a:buNone/>
            </a:pPr>
            <a:r>
              <a:rPr lang="en-US" sz="3000" i="1" dirty="0">
                <a:solidFill>
                  <a:srgbClr val="EDEAE0"/>
                </a:solidFill>
                <a:latin typeface="Georgia" pitchFamily="34" charset="0"/>
                <a:ea typeface="Georgia" pitchFamily="34" charset="-122"/>
                <a:cs typeface="Georgia" pitchFamily="34" charset="-120"/>
              </a:rPr>
              <a:t>Fitts</a:t>
            </a:r>
            <a:endParaRPr lang="en-US" sz="3000" dirty="0"/>
          </a:p>
        </p:txBody>
      </p:sp>
      <p:sp>
        <p:nvSpPr>
          <p:cNvPr id="10" name="Text 8"/>
          <p:cNvSpPr/>
          <p:nvPr/>
        </p:nvSpPr>
        <p:spPr>
          <a:xfrm>
            <a:off x="777240" y="3429000"/>
            <a:ext cx="2423160" cy="64008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Drag the target. Live MT prediction.</a:t>
            </a:r>
            <a:endParaRPr lang="en-US" sz="1100" dirty="0"/>
          </a:p>
        </p:txBody>
      </p:sp>
      <p:sp>
        <p:nvSpPr>
          <p:cNvPr id="11" name="Shape 9"/>
          <p:cNvSpPr/>
          <p:nvPr/>
        </p:nvSpPr>
        <p:spPr>
          <a:xfrm>
            <a:off x="3474720" y="2286000"/>
            <a:ext cx="2697480" cy="1783080"/>
          </a:xfrm>
          <a:prstGeom prst="rect">
            <a:avLst/>
          </a:prstGeom>
          <a:solidFill>
            <a:srgbClr val="13131A"/>
          </a:solidFill>
          <a:ln w="6350">
            <a:solidFill>
              <a:srgbClr val="2A2A35"/>
            </a:solidFill>
            <a:prstDash val="solid"/>
          </a:ln>
        </p:spPr>
      </p:sp>
      <p:sp>
        <p:nvSpPr>
          <p:cNvPr id="12" name="Text 10"/>
          <p:cNvSpPr/>
          <p:nvPr/>
        </p:nvSpPr>
        <p:spPr>
          <a:xfrm>
            <a:off x="3611880" y="2423160"/>
            <a:ext cx="13716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 02</a:t>
            </a:r>
            <a:endParaRPr lang="en-US" sz="900" dirty="0"/>
          </a:p>
        </p:txBody>
      </p:sp>
      <p:sp>
        <p:nvSpPr>
          <p:cNvPr id="13" name="Text 11"/>
          <p:cNvSpPr/>
          <p:nvPr/>
        </p:nvSpPr>
        <p:spPr>
          <a:xfrm>
            <a:off x="3611880" y="2743200"/>
            <a:ext cx="2423160" cy="640080"/>
          </a:xfrm>
          <a:prstGeom prst="rect">
            <a:avLst/>
          </a:prstGeom>
          <a:noFill/>
          <a:ln/>
        </p:spPr>
        <p:txBody>
          <a:bodyPr wrap="square" lIns="0" tIns="0" rIns="0" bIns="0" rtlCol="0" anchor="ctr"/>
          <a:lstStyle/>
          <a:p>
            <a:pPr indent="0" marL="0">
              <a:buNone/>
            </a:pPr>
            <a:r>
              <a:rPr lang="en-US" sz="3000" i="1" dirty="0">
                <a:solidFill>
                  <a:srgbClr val="EDEAE0"/>
                </a:solidFill>
                <a:latin typeface="Georgia" pitchFamily="34" charset="0"/>
                <a:ea typeface="Georgia" pitchFamily="34" charset="-122"/>
                <a:cs typeface="Georgia" pitchFamily="34" charset="-120"/>
              </a:rPr>
              <a:t>Hick</a:t>
            </a:r>
            <a:endParaRPr lang="en-US" sz="3000" dirty="0"/>
          </a:p>
        </p:txBody>
      </p:sp>
      <p:sp>
        <p:nvSpPr>
          <p:cNvPr id="14" name="Text 12"/>
          <p:cNvSpPr/>
          <p:nvPr/>
        </p:nvSpPr>
        <p:spPr>
          <a:xfrm>
            <a:off x="3611880" y="3429000"/>
            <a:ext cx="2423160" cy="64008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Choice-reaction timer; RT vs log₂(n+1).</a:t>
            </a:r>
            <a:endParaRPr lang="en-US" sz="1100" dirty="0"/>
          </a:p>
        </p:txBody>
      </p:sp>
      <p:sp>
        <p:nvSpPr>
          <p:cNvPr id="15" name="Shape 13"/>
          <p:cNvSpPr/>
          <p:nvPr/>
        </p:nvSpPr>
        <p:spPr>
          <a:xfrm>
            <a:off x="6309360" y="2286000"/>
            <a:ext cx="2697480" cy="1783080"/>
          </a:xfrm>
          <a:prstGeom prst="rect">
            <a:avLst/>
          </a:prstGeom>
          <a:solidFill>
            <a:srgbClr val="13131A"/>
          </a:solidFill>
          <a:ln w="6350">
            <a:solidFill>
              <a:srgbClr val="2A2A35"/>
            </a:solidFill>
            <a:prstDash val="solid"/>
          </a:ln>
        </p:spPr>
      </p:sp>
      <p:sp>
        <p:nvSpPr>
          <p:cNvPr id="16" name="Text 14"/>
          <p:cNvSpPr/>
          <p:nvPr/>
        </p:nvSpPr>
        <p:spPr>
          <a:xfrm>
            <a:off x="6446520" y="2423160"/>
            <a:ext cx="13716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 03</a:t>
            </a:r>
            <a:endParaRPr lang="en-US" sz="900" dirty="0"/>
          </a:p>
        </p:txBody>
      </p:sp>
      <p:sp>
        <p:nvSpPr>
          <p:cNvPr id="17" name="Text 15"/>
          <p:cNvSpPr/>
          <p:nvPr/>
        </p:nvSpPr>
        <p:spPr>
          <a:xfrm>
            <a:off x="6446520" y="2743200"/>
            <a:ext cx="2423160" cy="640080"/>
          </a:xfrm>
          <a:prstGeom prst="rect">
            <a:avLst/>
          </a:prstGeom>
          <a:noFill/>
          <a:ln/>
        </p:spPr>
        <p:txBody>
          <a:bodyPr wrap="square" lIns="0" tIns="0" rIns="0" bIns="0" rtlCol="0" anchor="ctr"/>
          <a:lstStyle/>
          <a:p>
            <a:pPr indent="0" marL="0">
              <a:buNone/>
            </a:pPr>
            <a:r>
              <a:rPr lang="en-US" sz="3000" i="1" dirty="0">
                <a:solidFill>
                  <a:srgbClr val="EDEAE0"/>
                </a:solidFill>
                <a:latin typeface="Georgia" pitchFamily="34" charset="0"/>
                <a:ea typeface="Georgia" pitchFamily="34" charset="-122"/>
                <a:cs typeface="Georgia" pitchFamily="34" charset="-120"/>
              </a:rPr>
              <a:t>Gestalt</a:t>
            </a:r>
            <a:endParaRPr lang="en-US" sz="3000" dirty="0"/>
          </a:p>
        </p:txBody>
      </p:sp>
      <p:sp>
        <p:nvSpPr>
          <p:cNvPr id="18" name="Text 16"/>
          <p:cNvSpPr/>
          <p:nvPr/>
        </p:nvSpPr>
        <p:spPr>
          <a:xfrm>
            <a:off x="6446520" y="3429000"/>
            <a:ext cx="2423160" cy="64008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Toggle proximity, similarity, closure.</a:t>
            </a:r>
            <a:endParaRPr lang="en-US" sz="1100" dirty="0"/>
          </a:p>
        </p:txBody>
      </p:sp>
      <p:sp>
        <p:nvSpPr>
          <p:cNvPr id="19" name="Shape 17"/>
          <p:cNvSpPr/>
          <p:nvPr/>
        </p:nvSpPr>
        <p:spPr>
          <a:xfrm>
            <a:off x="9144000" y="2286000"/>
            <a:ext cx="2697480" cy="1783080"/>
          </a:xfrm>
          <a:prstGeom prst="rect">
            <a:avLst/>
          </a:prstGeom>
          <a:solidFill>
            <a:srgbClr val="13131A"/>
          </a:solidFill>
          <a:ln w="6350">
            <a:solidFill>
              <a:srgbClr val="2A2A35"/>
            </a:solidFill>
            <a:prstDash val="solid"/>
          </a:ln>
        </p:spPr>
      </p:sp>
      <p:sp>
        <p:nvSpPr>
          <p:cNvPr id="20" name="Text 18"/>
          <p:cNvSpPr/>
          <p:nvPr/>
        </p:nvSpPr>
        <p:spPr>
          <a:xfrm>
            <a:off x="9281160" y="2423160"/>
            <a:ext cx="13716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 04</a:t>
            </a:r>
            <a:endParaRPr lang="en-US" sz="900" dirty="0"/>
          </a:p>
        </p:txBody>
      </p:sp>
      <p:sp>
        <p:nvSpPr>
          <p:cNvPr id="21" name="Text 19"/>
          <p:cNvSpPr/>
          <p:nvPr/>
        </p:nvSpPr>
        <p:spPr>
          <a:xfrm>
            <a:off x="9281160" y="2743200"/>
            <a:ext cx="2423160" cy="640080"/>
          </a:xfrm>
          <a:prstGeom prst="rect">
            <a:avLst/>
          </a:prstGeom>
          <a:noFill/>
          <a:ln/>
        </p:spPr>
        <p:txBody>
          <a:bodyPr wrap="square" lIns="0" tIns="0" rIns="0" bIns="0" rtlCol="0" anchor="ctr"/>
          <a:lstStyle/>
          <a:p>
            <a:pPr indent="0" marL="0">
              <a:buNone/>
            </a:pPr>
            <a:r>
              <a:rPr lang="en-US" sz="3000" i="1" dirty="0">
                <a:solidFill>
                  <a:srgbClr val="EDEAE0"/>
                </a:solidFill>
                <a:latin typeface="Georgia" pitchFamily="34" charset="0"/>
                <a:ea typeface="Georgia" pitchFamily="34" charset="-122"/>
                <a:cs typeface="Georgia" pitchFamily="34" charset="-120"/>
              </a:rPr>
              <a:t>Norman</a:t>
            </a:r>
            <a:endParaRPr lang="en-US" sz="3000" dirty="0"/>
          </a:p>
        </p:txBody>
      </p:sp>
      <p:sp>
        <p:nvSpPr>
          <p:cNvPr id="22" name="Text 20"/>
          <p:cNvSpPr/>
          <p:nvPr/>
        </p:nvSpPr>
        <p:spPr>
          <a:xfrm>
            <a:off x="9281160" y="3429000"/>
            <a:ext cx="2423160" cy="64008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Doors, mapping, feedback — three demos.</a:t>
            </a:r>
            <a:endParaRPr lang="en-US" sz="1100" dirty="0"/>
          </a:p>
        </p:txBody>
      </p:sp>
      <p:sp>
        <p:nvSpPr>
          <p:cNvPr id="23" name="Shape 21"/>
          <p:cNvSpPr/>
          <p:nvPr/>
        </p:nvSpPr>
        <p:spPr>
          <a:xfrm>
            <a:off x="640080" y="4206240"/>
            <a:ext cx="2697480" cy="1783080"/>
          </a:xfrm>
          <a:prstGeom prst="rect">
            <a:avLst/>
          </a:prstGeom>
          <a:solidFill>
            <a:srgbClr val="13131A"/>
          </a:solidFill>
          <a:ln w="6350">
            <a:solidFill>
              <a:srgbClr val="2A2A35"/>
            </a:solidFill>
            <a:prstDash val="solid"/>
          </a:ln>
        </p:spPr>
      </p:sp>
      <p:sp>
        <p:nvSpPr>
          <p:cNvPr id="24" name="Text 22"/>
          <p:cNvSpPr/>
          <p:nvPr/>
        </p:nvSpPr>
        <p:spPr>
          <a:xfrm>
            <a:off x="777240" y="4343400"/>
            <a:ext cx="13716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 05</a:t>
            </a:r>
            <a:endParaRPr lang="en-US" sz="900" dirty="0"/>
          </a:p>
        </p:txBody>
      </p:sp>
      <p:sp>
        <p:nvSpPr>
          <p:cNvPr id="25" name="Text 23"/>
          <p:cNvSpPr/>
          <p:nvPr/>
        </p:nvSpPr>
        <p:spPr>
          <a:xfrm>
            <a:off x="777240" y="4663440"/>
            <a:ext cx="2423160" cy="640080"/>
          </a:xfrm>
          <a:prstGeom prst="rect">
            <a:avLst/>
          </a:prstGeom>
          <a:noFill/>
          <a:ln/>
        </p:spPr>
        <p:txBody>
          <a:bodyPr wrap="square" lIns="0" tIns="0" rIns="0" bIns="0" rtlCol="0" anchor="ctr"/>
          <a:lstStyle/>
          <a:p>
            <a:pPr indent="0" marL="0">
              <a:buNone/>
            </a:pPr>
            <a:r>
              <a:rPr lang="en-US" sz="3000" i="1" dirty="0">
                <a:solidFill>
                  <a:srgbClr val="EDEAE0"/>
                </a:solidFill>
                <a:latin typeface="Georgia" pitchFamily="34" charset="0"/>
                <a:ea typeface="Georgia" pitchFamily="34" charset="-122"/>
                <a:cs typeface="Georgia" pitchFamily="34" charset="-120"/>
              </a:rPr>
              <a:t>Nielsen</a:t>
            </a:r>
            <a:endParaRPr lang="en-US" sz="3000" dirty="0"/>
          </a:p>
        </p:txBody>
      </p:sp>
      <p:sp>
        <p:nvSpPr>
          <p:cNvPr id="26" name="Text 24"/>
          <p:cNvSpPr/>
          <p:nvPr/>
        </p:nvSpPr>
        <p:spPr>
          <a:xfrm>
            <a:off x="777240" y="5349240"/>
            <a:ext cx="2423160" cy="64008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10 heuristics · violation vs respected.</a:t>
            </a:r>
            <a:endParaRPr lang="en-US" sz="1100" dirty="0"/>
          </a:p>
        </p:txBody>
      </p:sp>
      <p:sp>
        <p:nvSpPr>
          <p:cNvPr id="27" name="Shape 25"/>
          <p:cNvSpPr/>
          <p:nvPr/>
        </p:nvSpPr>
        <p:spPr>
          <a:xfrm>
            <a:off x="3474720" y="4206240"/>
            <a:ext cx="2697480" cy="1783080"/>
          </a:xfrm>
          <a:prstGeom prst="rect">
            <a:avLst/>
          </a:prstGeom>
          <a:solidFill>
            <a:srgbClr val="13131A"/>
          </a:solidFill>
          <a:ln w="6350">
            <a:solidFill>
              <a:srgbClr val="2A2A35"/>
            </a:solidFill>
            <a:prstDash val="solid"/>
          </a:ln>
        </p:spPr>
      </p:sp>
      <p:sp>
        <p:nvSpPr>
          <p:cNvPr id="28" name="Text 26"/>
          <p:cNvSpPr/>
          <p:nvPr/>
        </p:nvSpPr>
        <p:spPr>
          <a:xfrm>
            <a:off x="3611880" y="4343400"/>
            <a:ext cx="13716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 06</a:t>
            </a:r>
            <a:endParaRPr lang="en-US" sz="900" dirty="0"/>
          </a:p>
        </p:txBody>
      </p:sp>
      <p:sp>
        <p:nvSpPr>
          <p:cNvPr id="29" name="Text 27"/>
          <p:cNvSpPr/>
          <p:nvPr/>
        </p:nvSpPr>
        <p:spPr>
          <a:xfrm>
            <a:off x="3611880" y="4663440"/>
            <a:ext cx="2423160" cy="640080"/>
          </a:xfrm>
          <a:prstGeom prst="rect">
            <a:avLst/>
          </a:prstGeom>
          <a:noFill/>
          <a:ln/>
        </p:spPr>
        <p:txBody>
          <a:bodyPr wrap="square" lIns="0" tIns="0" rIns="0" bIns="0" rtlCol="0" anchor="ctr"/>
          <a:lstStyle/>
          <a:p>
            <a:pPr indent="0" marL="0">
              <a:buNone/>
            </a:pPr>
            <a:r>
              <a:rPr lang="en-US" sz="3000" i="1" dirty="0">
                <a:solidFill>
                  <a:srgbClr val="EDEAE0"/>
                </a:solidFill>
                <a:latin typeface="Georgia" pitchFamily="34" charset="0"/>
                <a:ea typeface="Georgia" pitchFamily="34" charset="-122"/>
                <a:cs typeface="Georgia" pitchFamily="34" charset="-120"/>
              </a:rPr>
              <a:t>KLM</a:t>
            </a:r>
            <a:endParaRPr lang="en-US" sz="3000" dirty="0"/>
          </a:p>
        </p:txBody>
      </p:sp>
      <p:sp>
        <p:nvSpPr>
          <p:cNvPr id="30" name="Text 28"/>
          <p:cNvSpPr/>
          <p:nvPr/>
        </p:nvSpPr>
        <p:spPr>
          <a:xfrm>
            <a:off x="3611880" y="5349240"/>
            <a:ext cx="2423160" cy="64008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Operator playground + guided scenarios.</a:t>
            </a:r>
            <a:endParaRPr lang="en-US" sz="1100" dirty="0"/>
          </a:p>
        </p:txBody>
      </p:sp>
      <p:sp>
        <p:nvSpPr>
          <p:cNvPr id="31" name="Shape 29"/>
          <p:cNvSpPr/>
          <p:nvPr/>
        </p:nvSpPr>
        <p:spPr>
          <a:xfrm>
            <a:off x="6309360" y="4206240"/>
            <a:ext cx="2697480" cy="1783080"/>
          </a:xfrm>
          <a:prstGeom prst="rect">
            <a:avLst/>
          </a:prstGeom>
          <a:solidFill>
            <a:srgbClr val="13131A"/>
          </a:solidFill>
          <a:ln w="6350">
            <a:solidFill>
              <a:srgbClr val="2A2A35"/>
            </a:solidFill>
            <a:prstDash val="solid"/>
          </a:ln>
        </p:spPr>
      </p:sp>
      <p:sp>
        <p:nvSpPr>
          <p:cNvPr id="32" name="Text 30"/>
          <p:cNvSpPr/>
          <p:nvPr/>
        </p:nvSpPr>
        <p:spPr>
          <a:xfrm>
            <a:off x="6446520" y="4343400"/>
            <a:ext cx="13716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 07</a:t>
            </a:r>
            <a:endParaRPr lang="en-US" sz="900" dirty="0"/>
          </a:p>
        </p:txBody>
      </p:sp>
      <p:sp>
        <p:nvSpPr>
          <p:cNvPr id="33" name="Text 31"/>
          <p:cNvSpPr/>
          <p:nvPr/>
        </p:nvSpPr>
        <p:spPr>
          <a:xfrm>
            <a:off x="6446520" y="4663440"/>
            <a:ext cx="2423160" cy="640080"/>
          </a:xfrm>
          <a:prstGeom prst="rect">
            <a:avLst/>
          </a:prstGeom>
          <a:noFill/>
          <a:ln/>
        </p:spPr>
        <p:txBody>
          <a:bodyPr wrap="square" lIns="0" tIns="0" rIns="0" bIns="0" rtlCol="0" anchor="ctr"/>
          <a:lstStyle/>
          <a:p>
            <a:pPr indent="0" marL="0">
              <a:buNone/>
            </a:pPr>
            <a:r>
              <a:rPr lang="en-US" sz="3000" i="1" dirty="0">
                <a:solidFill>
                  <a:srgbClr val="EDEAE0"/>
                </a:solidFill>
                <a:latin typeface="Georgia" pitchFamily="34" charset="0"/>
                <a:ea typeface="Georgia" pitchFamily="34" charset="-122"/>
                <a:cs typeface="Georgia" pitchFamily="34" charset="-120"/>
              </a:rPr>
              <a:t>Color</a:t>
            </a:r>
            <a:endParaRPr lang="en-US" sz="3000" dirty="0"/>
          </a:p>
        </p:txBody>
      </p:sp>
      <p:sp>
        <p:nvSpPr>
          <p:cNvPr id="34" name="Text 32"/>
          <p:cNvSpPr/>
          <p:nvPr/>
        </p:nvSpPr>
        <p:spPr>
          <a:xfrm>
            <a:off x="6446520" y="5349240"/>
            <a:ext cx="2423160" cy="64008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Live WCAG checker, AA / AAA badges.</a:t>
            </a:r>
            <a:endParaRPr lang="en-US" sz="1100" dirty="0"/>
          </a:p>
        </p:txBody>
      </p:sp>
      <p:sp>
        <p:nvSpPr>
          <p:cNvPr id="35" name="Shape 33"/>
          <p:cNvSpPr/>
          <p:nvPr/>
        </p:nvSpPr>
        <p:spPr>
          <a:xfrm>
            <a:off x="9144000" y="4206240"/>
            <a:ext cx="2697480" cy="1783080"/>
          </a:xfrm>
          <a:prstGeom prst="rect">
            <a:avLst/>
          </a:prstGeom>
          <a:solidFill>
            <a:srgbClr val="13131A"/>
          </a:solidFill>
          <a:ln w="6350">
            <a:solidFill>
              <a:srgbClr val="2A2A35"/>
            </a:solidFill>
            <a:prstDash val="solid"/>
          </a:ln>
        </p:spPr>
      </p:sp>
      <p:sp>
        <p:nvSpPr>
          <p:cNvPr id="36" name="Text 34"/>
          <p:cNvSpPr/>
          <p:nvPr/>
        </p:nvSpPr>
        <p:spPr>
          <a:xfrm>
            <a:off x="9281160" y="4343400"/>
            <a:ext cx="13716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 08</a:t>
            </a:r>
            <a:endParaRPr lang="en-US" sz="900" dirty="0"/>
          </a:p>
        </p:txBody>
      </p:sp>
      <p:sp>
        <p:nvSpPr>
          <p:cNvPr id="37" name="Text 35"/>
          <p:cNvSpPr/>
          <p:nvPr/>
        </p:nvSpPr>
        <p:spPr>
          <a:xfrm>
            <a:off x="9281160" y="4663440"/>
            <a:ext cx="2423160" cy="640080"/>
          </a:xfrm>
          <a:prstGeom prst="rect">
            <a:avLst/>
          </a:prstGeom>
          <a:noFill/>
          <a:ln/>
        </p:spPr>
        <p:txBody>
          <a:bodyPr wrap="square" lIns="0" tIns="0" rIns="0" bIns="0" rtlCol="0" anchor="ctr"/>
          <a:lstStyle/>
          <a:p>
            <a:pPr indent="0" marL="0">
              <a:buNone/>
            </a:pPr>
            <a:r>
              <a:rPr lang="en-US" sz="3000" i="1" dirty="0">
                <a:solidFill>
                  <a:srgbClr val="EDEAE0"/>
                </a:solidFill>
                <a:latin typeface="Georgia" pitchFamily="34" charset="0"/>
                <a:ea typeface="Georgia" pitchFamily="34" charset="-122"/>
                <a:cs typeface="Georgia" pitchFamily="34" charset="-120"/>
              </a:rPr>
              <a:t>A11y</a:t>
            </a:r>
            <a:endParaRPr lang="en-US" sz="3000" dirty="0"/>
          </a:p>
        </p:txBody>
      </p:sp>
      <p:sp>
        <p:nvSpPr>
          <p:cNvPr id="38" name="Text 36"/>
          <p:cNvSpPr/>
          <p:nvPr/>
        </p:nvSpPr>
        <p:spPr>
          <a:xfrm>
            <a:off x="9281160" y="5349240"/>
            <a:ext cx="2423160" cy="64008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Real screen-reader audio + 4 sim toggles.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04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01 / FITTS</a:t>
            </a:r>
            <a:endParaRPr lang="en-US" sz="1000" dirty="0"/>
          </a:p>
        </p:txBody>
      </p:sp>
      <p:sp>
        <p:nvSpPr>
          <p:cNvPr id="6" name="Text 4"/>
          <p:cNvSpPr/>
          <p:nvPr/>
        </p:nvSpPr>
        <p:spPr>
          <a:xfrm>
            <a:off x="640080" y="914400"/>
            <a:ext cx="4572000" cy="1280160"/>
          </a:xfrm>
          <a:prstGeom prst="rect">
            <a:avLst/>
          </a:prstGeom>
          <a:noFill/>
          <a:ln/>
        </p:spPr>
        <p:txBody>
          <a:bodyPr wrap="square" lIns="0" tIns="0" rIns="0" bIns="0" rtlCol="0" anchor="ctr"/>
          <a:lstStyle/>
          <a:p>
            <a:pPr indent="0" marL="0">
              <a:buNone/>
            </a:pPr>
            <a:r>
              <a:rPr lang="en-US" sz="5000" spc="-100" kern="0" dirty="0">
                <a:solidFill>
                  <a:srgbClr val="EDEAE0"/>
                </a:solidFill>
                <a:latin typeface="Georgia" pitchFamily="34" charset="0"/>
                <a:ea typeface="Georgia" pitchFamily="34" charset="-122"/>
                <a:cs typeface="Georgia" pitchFamily="34" charset="-120"/>
              </a:rPr>
              <a:t>Fitts's </a:t>
            </a:r>
            <a:pPr indent="0" marL="0">
              <a:buNone/>
            </a:pPr>
            <a:r>
              <a:rPr lang="en-US" sz="5000" i="1" spc="-100" kern="0" dirty="0">
                <a:solidFill>
                  <a:srgbClr val="E8B547"/>
                </a:solidFill>
                <a:latin typeface="Georgia" pitchFamily="34" charset="0"/>
                <a:ea typeface="Georgia" pitchFamily="34" charset="-122"/>
                <a:cs typeface="Georgia" pitchFamily="34" charset="-120"/>
              </a:rPr>
              <a:t>Law</a:t>
            </a:r>
            <a:endParaRPr lang="en-US" sz="5000" dirty="0"/>
          </a:p>
        </p:txBody>
      </p:sp>
      <p:sp>
        <p:nvSpPr>
          <p:cNvPr id="7" name="Text 5"/>
          <p:cNvSpPr/>
          <p:nvPr/>
        </p:nvSpPr>
        <p:spPr>
          <a:xfrm>
            <a:off x="640080" y="2286000"/>
            <a:ext cx="4572000" cy="914400"/>
          </a:xfrm>
          <a:prstGeom prst="rect">
            <a:avLst/>
          </a:prstGeom>
          <a:noFill/>
          <a:ln/>
        </p:spPr>
        <p:txBody>
          <a:bodyPr wrap="square" lIns="0" tIns="0" rIns="0" bIns="0" rtlCol="0" anchor="ctr"/>
          <a:lstStyle/>
          <a:p>
            <a:pPr indent="0" marL="0">
              <a:buNone/>
            </a:pPr>
            <a:r>
              <a:rPr lang="en-US" sz="1300" i="1" dirty="0">
                <a:solidFill>
                  <a:srgbClr val="BCB5A6"/>
                </a:solidFill>
                <a:latin typeface="Calibri" pitchFamily="34" charset="0"/>
                <a:ea typeface="Calibri" pitchFamily="34" charset="-122"/>
                <a:cs typeface="Calibri" pitchFamily="34" charset="-120"/>
              </a:rPr>
              <a:t>Time to acquire a target is a function of distance to it and its width.</a:t>
            </a:r>
            <a:endParaRPr lang="en-US" sz="1300" dirty="0"/>
          </a:p>
        </p:txBody>
      </p:sp>
      <p:sp>
        <p:nvSpPr>
          <p:cNvPr id="8" name="Text 6"/>
          <p:cNvSpPr/>
          <p:nvPr/>
        </p:nvSpPr>
        <p:spPr>
          <a:xfrm>
            <a:off x="640080" y="3108960"/>
            <a:ext cx="4572000" cy="320040"/>
          </a:xfrm>
          <a:prstGeom prst="rect">
            <a:avLst/>
          </a:prstGeom>
          <a:noFill/>
          <a:ln/>
        </p:spPr>
        <p:txBody>
          <a:bodyPr wrap="square" lIns="0" tIns="0" rIns="0" bIns="0" rtlCol="0" anchor="ctr"/>
          <a:lstStyle/>
          <a:p>
            <a:pPr indent="0" marL="0">
              <a:buNone/>
            </a:pPr>
            <a:r>
              <a:rPr lang="en-US" sz="1300" dirty="0">
                <a:solidFill>
                  <a:srgbClr val="5DBFA9"/>
                </a:solidFill>
                <a:latin typeface="Consolas" pitchFamily="34" charset="0"/>
                <a:ea typeface="Consolas" pitchFamily="34" charset="-122"/>
                <a:cs typeface="Consolas" pitchFamily="34" charset="-120"/>
              </a:rPr>
              <a:t>MT = a + b · log₂(D/W + 1)</a:t>
            </a:r>
            <a:endParaRPr lang="en-US" sz="1300" dirty="0"/>
          </a:p>
        </p:txBody>
      </p:sp>
      <p:sp>
        <p:nvSpPr>
          <p:cNvPr id="9" name="Text 7"/>
          <p:cNvSpPr/>
          <p:nvPr/>
        </p:nvSpPr>
        <p:spPr>
          <a:xfrm>
            <a:off x="640080" y="3566160"/>
            <a:ext cx="4572000" cy="2560320"/>
          </a:xfrm>
          <a:prstGeom prst="rect">
            <a:avLst/>
          </a:prstGeom>
          <a:noFill/>
          <a:ln/>
        </p:spPr>
        <p:txBody>
          <a:bodyPr wrap="square" lIns="0" tIns="0" rIns="0" bIns="0" rtlCol="0" anchor="ctr"/>
          <a:lstStyle/>
          <a:p>
            <a:pPr indent="0" marL="0">
              <a:buNone/>
            </a:pPr>
            <a:r>
              <a:rPr lang="en-US" sz="1300" dirty="0">
                <a:solidFill>
                  <a:srgbClr val="EDEAE0"/>
                </a:solidFill>
                <a:latin typeface="Calibri" pitchFamily="34" charset="0"/>
                <a:ea typeface="Calibri" pitchFamily="34" charset="-122"/>
                <a:cs typeface="Calibri" pitchFamily="34" charset="-120"/>
              </a:rPr>
              <a:t>Drag the sliders to change distance and width. Click amber, then mint as fast as you can. The site computes both the predicted movement time and your actual measured time, so you see the law working in real time.</a:t>
            </a:r>
            <a:endParaRPr lang="en-US" sz="1300" dirty="0"/>
          </a:p>
        </p:txBody>
      </p:sp>
      <p:pic>
        <p:nvPicPr>
          <p:cNvPr id="10" name="Image 0" descr="D:\hci\.shots\02-fitts.png">    </p:cNvPr>
          <p:cNvPicPr>
            <a:picLocks noChangeAspect="1"/>
          </p:cNvPicPr>
          <p:nvPr/>
        </p:nvPicPr>
        <p:blipFill>
          <a:blip r:embed="rId1"/>
          <a:stretch>
            <a:fillRect/>
          </a:stretch>
        </p:blipFill>
        <p:spPr>
          <a:xfrm>
            <a:off x="5486400" y="1680210"/>
            <a:ext cx="6217920" cy="34975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05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02 / HICK</a:t>
            </a:r>
            <a:endParaRPr lang="en-US" sz="1000" dirty="0"/>
          </a:p>
        </p:txBody>
      </p:sp>
      <p:sp>
        <p:nvSpPr>
          <p:cNvPr id="6" name="Text 4"/>
          <p:cNvSpPr/>
          <p:nvPr/>
        </p:nvSpPr>
        <p:spPr>
          <a:xfrm>
            <a:off x="640080" y="914400"/>
            <a:ext cx="4572000" cy="1280160"/>
          </a:xfrm>
          <a:prstGeom prst="rect">
            <a:avLst/>
          </a:prstGeom>
          <a:noFill/>
          <a:ln/>
        </p:spPr>
        <p:txBody>
          <a:bodyPr wrap="square" lIns="0" tIns="0" rIns="0" bIns="0" rtlCol="0" anchor="ctr"/>
          <a:lstStyle/>
          <a:p>
            <a:pPr indent="0" marL="0">
              <a:buNone/>
            </a:pPr>
            <a:r>
              <a:rPr lang="en-US" sz="5000" spc="-100" kern="0" dirty="0">
                <a:solidFill>
                  <a:srgbClr val="EDEAE0"/>
                </a:solidFill>
                <a:latin typeface="Georgia" pitchFamily="34" charset="0"/>
                <a:ea typeface="Georgia" pitchFamily="34" charset="-122"/>
                <a:cs typeface="Georgia" pitchFamily="34" charset="-120"/>
              </a:rPr>
              <a:t>Hick's </a:t>
            </a:r>
            <a:pPr indent="0" marL="0">
              <a:buNone/>
            </a:pPr>
            <a:r>
              <a:rPr lang="en-US" sz="5000" i="1" spc="-100" kern="0" dirty="0">
                <a:solidFill>
                  <a:srgbClr val="E8B547"/>
                </a:solidFill>
                <a:latin typeface="Georgia" pitchFamily="34" charset="0"/>
                <a:ea typeface="Georgia" pitchFamily="34" charset="-122"/>
                <a:cs typeface="Georgia" pitchFamily="34" charset="-120"/>
              </a:rPr>
              <a:t>Law</a:t>
            </a:r>
            <a:endParaRPr lang="en-US" sz="5000" dirty="0"/>
          </a:p>
        </p:txBody>
      </p:sp>
      <p:sp>
        <p:nvSpPr>
          <p:cNvPr id="7" name="Text 5"/>
          <p:cNvSpPr/>
          <p:nvPr/>
        </p:nvSpPr>
        <p:spPr>
          <a:xfrm>
            <a:off x="640080" y="2286000"/>
            <a:ext cx="4572000" cy="914400"/>
          </a:xfrm>
          <a:prstGeom prst="rect">
            <a:avLst/>
          </a:prstGeom>
          <a:noFill/>
          <a:ln/>
        </p:spPr>
        <p:txBody>
          <a:bodyPr wrap="square" lIns="0" tIns="0" rIns="0" bIns="0" rtlCol="0" anchor="ctr"/>
          <a:lstStyle/>
          <a:p>
            <a:pPr indent="0" marL="0">
              <a:buNone/>
            </a:pPr>
            <a:r>
              <a:rPr lang="en-US" sz="1300" i="1" dirty="0">
                <a:solidFill>
                  <a:srgbClr val="BCB5A6"/>
                </a:solidFill>
                <a:latin typeface="Calibri" pitchFamily="34" charset="0"/>
                <a:ea typeface="Calibri" pitchFamily="34" charset="-122"/>
                <a:cs typeface="Calibri" pitchFamily="34" charset="-120"/>
              </a:rPr>
              <a:t>Reaction time grows with the logarithm of the number of choices.</a:t>
            </a:r>
            <a:endParaRPr lang="en-US" sz="1300" dirty="0"/>
          </a:p>
        </p:txBody>
      </p:sp>
      <p:sp>
        <p:nvSpPr>
          <p:cNvPr id="8" name="Text 6"/>
          <p:cNvSpPr/>
          <p:nvPr/>
        </p:nvSpPr>
        <p:spPr>
          <a:xfrm>
            <a:off x="640080" y="3108960"/>
            <a:ext cx="4572000" cy="320040"/>
          </a:xfrm>
          <a:prstGeom prst="rect">
            <a:avLst/>
          </a:prstGeom>
          <a:noFill/>
          <a:ln/>
        </p:spPr>
        <p:txBody>
          <a:bodyPr wrap="square" lIns="0" tIns="0" rIns="0" bIns="0" rtlCol="0" anchor="ctr"/>
          <a:lstStyle/>
          <a:p>
            <a:pPr indent="0" marL="0">
              <a:buNone/>
            </a:pPr>
            <a:r>
              <a:rPr lang="en-US" sz="1300" dirty="0">
                <a:solidFill>
                  <a:srgbClr val="5DBFA9"/>
                </a:solidFill>
                <a:latin typeface="Consolas" pitchFamily="34" charset="0"/>
                <a:ea typeface="Consolas" pitchFamily="34" charset="-122"/>
                <a:cs typeface="Consolas" pitchFamily="34" charset="-120"/>
              </a:rPr>
              <a:t>RT = a + b · log₂(n + 1)</a:t>
            </a:r>
            <a:endParaRPr lang="en-US" sz="1300" dirty="0"/>
          </a:p>
        </p:txBody>
      </p:sp>
      <p:sp>
        <p:nvSpPr>
          <p:cNvPr id="9" name="Text 7"/>
          <p:cNvSpPr/>
          <p:nvPr/>
        </p:nvSpPr>
        <p:spPr>
          <a:xfrm>
            <a:off x="640080" y="3566160"/>
            <a:ext cx="4572000" cy="2560320"/>
          </a:xfrm>
          <a:prstGeom prst="rect">
            <a:avLst/>
          </a:prstGeom>
          <a:noFill/>
          <a:ln/>
        </p:spPr>
        <p:txBody>
          <a:bodyPr wrap="square" lIns="0" tIns="0" rIns="0" bIns="0" rtlCol="0" anchor="ctr"/>
          <a:lstStyle/>
          <a:p>
            <a:pPr indent="0" marL="0">
              <a:buNone/>
            </a:pPr>
            <a:r>
              <a:rPr lang="en-US" sz="1300" dirty="0">
                <a:solidFill>
                  <a:srgbClr val="EDEAE0"/>
                </a:solidFill>
                <a:latin typeface="Calibri" pitchFamily="34" charset="0"/>
                <a:ea typeface="Calibri" pitchFamily="34" charset="-122"/>
                <a:cs typeface="Calibri" pitchFamily="34" charset="-120"/>
              </a:rPr>
              <a:t>Pick n = 2, 4, 8 or 16, hit START, and tap the glowing tile. Each trial plots your RT against the predicted log₂ curve. Long flat menus aren't free — group, hide, chunk.</a:t>
            </a:r>
            <a:endParaRPr lang="en-US" sz="1300" dirty="0"/>
          </a:p>
        </p:txBody>
      </p:sp>
      <p:pic>
        <p:nvPicPr>
          <p:cNvPr id="10" name="Image 0" descr="D:\hci\.shots\03-hicks.png">    </p:cNvPr>
          <p:cNvPicPr>
            <a:picLocks noChangeAspect="1"/>
          </p:cNvPicPr>
          <p:nvPr/>
        </p:nvPicPr>
        <p:blipFill>
          <a:blip r:embed="rId1"/>
          <a:stretch>
            <a:fillRect/>
          </a:stretch>
        </p:blipFill>
        <p:spPr>
          <a:xfrm>
            <a:off x="5486400" y="1680210"/>
            <a:ext cx="6217920" cy="34975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06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03 / GESTALT</a:t>
            </a:r>
            <a:endParaRPr lang="en-US" sz="1000" dirty="0"/>
          </a:p>
        </p:txBody>
      </p:sp>
      <p:sp>
        <p:nvSpPr>
          <p:cNvPr id="6" name="Text 4"/>
          <p:cNvSpPr/>
          <p:nvPr/>
        </p:nvSpPr>
        <p:spPr>
          <a:xfrm>
            <a:off x="640080" y="914400"/>
            <a:ext cx="4572000" cy="1280160"/>
          </a:xfrm>
          <a:prstGeom prst="rect">
            <a:avLst/>
          </a:prstGeom>
          <a:noFill/>
          <a:ln/>
        </p:spPr>
        <p:txBody>
          <a:bodyPr wrap="square" lIns="0" tIns="0" rIns="0" bIns="0" rtlCol="0" anchor="ctr"/>
          <a:lstStyle/>
          <a:p>
            <a:pPr indent="0" marL="0">
              <a:buNone/>
            </a:pPr>
            <a:r>
              <a:rPr lang="en-US" sz="5000" spc="-100" kern="0" dirty="0">
                <a:solidFill>
                  <a:srgbClr val="EDEAE0"/>
                </a:solidFill>
                <a:latin typeface="Georgia" pitchFamily="34" charset="0"/>
                <a:ea typeface="Georgia" pitchFamily="34" charset="-122"/>
                <a:cs typeface="Georgia" pitchFamily="34" charset="-120"/>
              </a:rPr>
              <a:t>Gestalt </a:t>
            </a:r>
            <a:pPr indent="0" marL="0">
              <a:buNone/>
            </a:pPr>
            <a:r>
              <a:rPr lang="en-US" sz="5000" i="1" spc="-100" kern="0" dirty="0">
                <a:solidFill>
                  <a:srgbClr val="E8B547"/>
                </a:solidFill>
                <a:latin typeface="Georgia" pitchFamily="34" charset="0"/>
                <a:ea typeface="Georgia" pitchFamily="34" charset="-122"/>
                <a:cs typeface="Georgia" pitchFamily="34" charset="-120"/>
              </a:rPr>
              <a:t>Grouping</a:t>
            </a:r>
            <a:endParaRPr lang="en-US" sz="5000" dirty="0"/>
          </a:p>
        </p:txBody>
      </p:sp>
      <p:sp>
        <p:nvSpPr>
          <p:cNvPr id="7" name="Text 5"/>
          <p:cNvSpPr/>
          <p:nvPr/>
        </p:nvSpPr>
        <p:spPr>
          <a:xfrm>
            <a:off x="640080" y="2286000"/>
            <a:ext cx="4572000" cy="914400"/>
          </a:xfrm>
          <a:prstGeom prst="rect">
            <a:avLst/>
          </a:prstGeom>
          <a:noFill/>
          <a:ln/>
        </p:spPr>
        <p:txBody>
          <a:bodyPr wrap="square" lIns="0" tIns="0" rIns="0" bIns="0" rtlCol="0" anchor="ctr"/>
          <a:lstStyle/>
          <a:p>
            <a:pPr indent="0" marL="0">
              <a:buNone/>
            </a:pPr>
            <a:r>
              <a:rPr lang="en-US" sz="1300" i="1" dirty="0">
                <a:solidFill>
                  <a:srgbClr val="BCB5A6"/>
                </a:solidFill>
                <a:latin typeface="Calibri" pitchFamily="34" charset="0"/>
                <a:ea typeface="Calibri" pitchFamily="34" charset="-122"/>
                <a:cs typeface="Calibri" pitchFamily="34" charset="-120"/>
              </a:rPr>
              <a:t>Proximity · similarity · closure · continuity. The brain perceives wholes before parts.</a:t>
            </a:r>
            <a:endParaRPr lang="en-US" sz="1300" dirty="0"/>
          </a:p>
        </p:txBody>
      </p:sp>
      <p:sp>
        <p:nvSpPr>
          <p:cNvPr id="8" name="Text 6"/>
          <p:cNvSpPr/>
          <p:nvPr/>
        </p:nvSpPr>
        <p:spPr>
          <a:xfrm>
            <a:off x="640080" y="3200400"/>
            <a:ext cx="4572000" cy="2560320"/>
          </a:xfrm>
          <a:prstGeom prst="rect">
            <a:avLst/>
          </a:prstGeom>
          <a:noFill/>
          <a:ln/>
        </p:spPr>
        <p:txBody>
          <a:bodyPr wrap="square" lIns="0" tIns="0" rIns="0" bIns="0" rtlCol="0" anchor="ctr"/>
          <a:lstStyle/>
          <a:p>
            <a:pPr indent="0" marL="0">
              <a:buNone/>
            </a:pPr>
            <a:r>
              <a:rPr lang="en-US" sz="1300" dirty="0">
                <a:solidFill>
                  <a:srgbClr val="EDEAE0"/>
                </a:solidFill>
                <a:latin typeface="Calibri" pitchFamily="34" charset="0"/>
                <a:ea typeface="Calibri" pitchFamily="34" charset="-122"/>
                <a:cs typeface="Calibri" pitchFamily="34" charset="-120"/>
              </a:rPr>
              <a:t>Four toggles drive the same set of dots through four perceptual lenses. Turn proximity off and the columns dissolve. Turn closure off and a circle becomes a scatter of points.</a:t>
            </a:r>
            <a:endParaRPr lang="en-US" sz="1300" dirty="0"/>
          </a:p>
        </p:txBody>
      </p:sp>
      <p:pic>
        <p:nvPicPr>
          <p:cNvPr id="9" name="Image 0" descr="D:\hci\.shots\04-gestalt.png">    </p:cNvPr>
          <p:cNvPicPr>
            <a:picLocks noChangeAspect="1"/>
          </p:cNvPicPr>
          <p:nvPr/>
        </p:nvPicPr>
        <p:blipFill>
          <a:blip r:embed="rId1"/>
          <a:stretch>
            <a:fillRect/>
          </a:stretch>
        </p:blipFill>
        <p:spPr>
          <a:xfrm>
            <a:off x="5486400" y="1680210"/>
            <a:ext cx="6217920" cy="34975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07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04.A / NORMAN</a:t>
            </a:r>
            <a:endParaRPr lang="en-US" sz="1000" dirty="0"/>
          </a:p>
        </p:txBody>
      </p:sp>
      <p:sp>
        <p:nvSpPr>
          <p:cNvPr id="6" name="Text 4"/>
          <p:cNvSpPr/>
          <p:nvPr/>
        </p:nvSpPr>
        <p:spPr>
          <a:xfrm>
            <a:off x="640080" y="914400"/>
            <a:ext cx="4572000" cy="1280160"/>
          </a:xfrm>
          <a:prstGeom prst="rect">
            <a:avLst/>
          </a:prstGeom>
          <a:noFill/>
          <a:ln/>
        </p:spPr>
        <p:txBody>
          <a:bodyPr wrap="square" lIns="0" tIns="0" rIns="0" bIns="0" rtlCol="0" anchor="ctr"/>
          <a:lstStyle/>
          <a:p>
            <a:pPr indent="0" marL="0">
              <a:buNone/>
            </a:pPr>
            <a:r>
              <a:rPr lang="en-US" sz="5000" spc="-100" kern="0" dirty="0">
                <a:solidFill>
                  <a:srgbClr val="EDEAE0"/>
                </a:solidFill>
                <a:latin typeface="Georgia" pitchFamily="34" charset="0"/>
                <a:ea typeface="Georgia" pitchFamily="34" charset="-122"/>
                <a:cs typeface="Georgia" pitchFamily="34" charset="-120"/>
              </a:rPr>
              <a:t>Norman's </a:t>
            </a:r>
            <a:pPr indent="0" marL="0">
              <a:buNone/>
            </a:pPr>
            <a:r>
              <a:rPr lang="en-US" sz="5000" i="1" spc="-100" kern="0" dirty="0">
                <a:solidFill>
                  <a:srgbClr val="E8B547"/>
                </a:solidFill>
                <a:latin typeface="Georgia" pitchFamily="34" charset="0"/>
                <a:ea typeface="Georgia" pitchFamily="34" charset="-122"/>
                <a:cs typeface="Georgia" pitchFamily="34" charset="-120"/>
              </a:rPr>
              <a:t>Doors</a:t>
            </a:r>
            <a:endParaRPr lang="en-US" sz="5000" dirty="0"/>
          </a:p>
        </p:txBody>
      </p:sp>
      <p:sp>
        <p:nvSpPr>
          <p:cNvPr id="7" name="Text 5"/>
          <p:cNvSpPr/>
          <p:nvPr/>
        </p:nvSpPr>
        <p:spPr>
          <a:xfrm>
            <a:off x="640080" y="2286000"/>
            <a:ext cx="4572000" cy="914400"/>
          </a:xfrm>
          <a:prstGeom prst="rect">
            <a:avLst/>
          </a:prstGeom>
          <a:noFill/>
          <a:ln/>
        </p:spPr>
        <p:txBody>
          <a:bodyPr wrap="square" lIns="0" tIns="0" rIns="0" bIns="0" rtlCol="0" anchor="ctr"/>
          <a:lstStyle/>
          <a:p>
            <a:pPr indent="0" marL="0">
              <a:buNone/>
            </a:pPr>
            <a:r>
              <a:rPr lang="en-US" sz="1300" i="1" dirty="0">
                <a:solidFill>
                  <a:srgbClr val="BCB5A6"/>
                </a:solidFill>
                <a:latin typeface="Calibri" pitchFamily="34" charset="0"/>
                <a:ea typeface="Calibri" pitchFamily="34" charset="-122"/>
                <a:cs typeface="Calibri" pitchFamily="34" charset="-120"/>
              </a:rPr>
              <a:t>Affordance · signifier · mapping · feedback. If a door needs a sign, the door is broken.</a:t>
            </a:r>
            <a:endParaRPr lang="en-US" sz="1300" dirty="0"/>
          </a:p>
        </p:txBody>
      </p:sp>
      <p:sp>
        <p:nvSpPr>
          <p:cNvPr id="8" name="Text 6"/>
          <p:cNvSpPr/>
          <p:nvPr/>
        </p:nvSpPr>
        <p:spPr>
          <a:xfrm>
            <a:off x="640080" y="3200400"/>
            <a:ext cx="4572000" cy="2560320"/>
          </a:xfrm>
          <a:prstGeom prst="rect">
            <a:avLst/>
          </a:prstGeom>
          <a:noFill/>
          <a:ln/>
        </p:spPr>
        <p:txBody>
          <a:bodyPr wrap="square" lIns="0" tIns="0" rIns="0" bIns="0" rtlCol="0" anchor="ctr"/>
          <a:lstStyle/>
          <a:p>
            <a:pPr indent="0" marL="0">
              <a:buNone/>
            </a:pPr>
            <a:r>
              <a:rPr lang="en-US" sz="1300" dirty="0">
                <a:solidFill>
                  <a:srgbClr val="EDEAE0"/>
                </a:solidFill>
                <a:latin typeface="Calibri" pitchFamily="34" charset="0"/>
                <a:ea typeface="Calibri" pitchFamily="34" charset="-122"/>
                <a:cs typeface="Calibri" pitchFamily="34" charset="-120"/>
              </a:rPr>
              <a:t>Two doors. The bad one wears a "PUSH" label but has a graspable handle that begs to be pulled — pulling actually opens it. The good one has a flat plate, no sign, and only pushes. The conflict is the lesson.</a:t>
            </a:r>
            <a:endParaRPr lang="en-US" sz="1300" dirty="0"/>
          </a:p>
        </p:txBody>
      </p:sp>
      <p:pic>
        <p:nvPicPr>
          <p:cNvPr id="9" name="Image 0" descr="D:\hci\.shots\05-norman-doors.png">    </p:cNvPr>
          <p:cNvPicPr>
            <a:picLocks noChangeAspect="1"/>
          </p:cNvPicPr>
          <p:nvPr/>
        </p:nvPicPr>
        <p:blipFill>
          <a:blip r:embed="rId1"/>
          <a:stretch>
            <a:fillRect/>
          </a:stretch>
        </p:blipFill>
        <p:spPr>
          <a:xfrm>
            <a:off x="5486400" y="1680210"/>
            <a:ext cx="6217920" cy="34975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08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04.B / MAPPING</a:t>
            </a:r>
            <a:endParaRPr lang="en-US" sz="1000" dirty="0"/>
          </a:p>
        </p:txBody>
      </p:sp>
      <p:sp>
        <p:nvSpPr>
          <p:cNvPr id="6" name="Text 4"/>
          <p:cNvSpPr/>
          <p:nvPr/>
        </p:nvSpPr>
        <p:spPr>
          <a:xfrm>
            <a:off x="640080" y="914400"/>
            <a:ext cx="4572000" cy="1280160"/>
          </a:xfrm>
          <a:prstGeom prst="rect">
            <a:avLst/>
          </a:prstGeom>
          <a:noFill/>
          <a:ln/>
        </p:spPr>
        <p:txBody>
          <a:bodyPr wrap="square" lIns="0" tIns="0" rIns="0" bIns="0" rtlCol="0" anchor="ctr"/>
          <a:lstStyle/>
          <a:p>
            <a:pPr indent="0" marL="0">
              <a:buNone/>
            </a:pPr>
            <a:r>
              <a:rPr lang="en-US" sz="5000" spc="-100" kern="0" dirty="0">
                <a:solidFill>
                  <a:srgbClr val="EDEAE0"/>
                </a:solidFill>
                <a:latin typeface="Georgia" pitchFamily="34" charset="0"/>
                <a:ea typeface="Georgia" pitchFamily="34" charset="-122"/>
                <a:cs typeface="Georgia" pitchFamily="34" charset="-120"/>
              </a:rPr>
              <a:t>Stove </a:t>
            </a:r>
            <a:pPr indent="0" marL="0">
              <a:buNone/>
            </a:pPr>
            <a:r>
              <a:rPr lang="en-US" sz="5000" i="1" spc="-100" kern="0" dirty="0">
                <a:solidFill>
                  <a:srgbClr val="E8B547"/>
                </a:solidFill>
                <a:latin typeface="Georgia" pitchFamily="34" charset="0"/>
                <a:ea typeface="Georgia" pitchFamily="34" charset="-122"/>
                <a:cs typeface="Georgia" pitchFamily="34" charset="-120"/>
              </a:rPr>
              <a:t>Mapping</a:t>
            </a:r>
            <a:endParaRPr lang="en-US" sz="5000" dirty="0"/>
          </a:p>
        </p:txBody>
      </p:sp>
      <p:sp>
        <p:nvSpPr>
          <p:cNvPr id="7" name="Text 5"/>
          <p:cNvSpPr/>
          <p:nvPr/>
        </p:nvSpPr>
        <p:spPr>
          <a:xfrm>
            <a:off x="640080" y="2286000"/>
            <a:ext cx="4572000" cy="914400"/>
          </a:xfrm>
          <a:prstGeom prst="rect">
            <a:avLst/>
          </a:prstGeom>
          <a:noFill/>
          <a:ln/>
        </p:spPr>
        <p:txBody>
          <a:bodyPr wrap="square" lIns="0" tIns="0" rIns="0" bIns="0" rtlCol="0" anchor="ctr"/>
          <a:lstStyle/>
          <a:p>
            <a:pPr indent="0" marL="0">
              <a:buNone/>
            </a:pPr>
            <a:r>
              <a:rPr lang="en-US" sz="1300" i="1" dirty="0">
                <a:solidFill>
                  <a:srgbClr val="BCB5A6"/>
                </a:solidFill>
                <a:latin typeface="Calibri" pitchFamily="34" charset="0"/>
                <a:ea typeface="Calibri" pitchFamily="34" charset="-122"/>
                <a:cs typeface="Calibri" pitchFamily="34" charset="-120"/>
              </a:rPr>
              <a:t>Spatial correspondence between control and effect — knobs that mirror the burners.</a:t>
            </a:r>
            <a:endParaRPr lang="en-US" sz="1300" dirty="0"/>
          </a:p>
        </p:txBody>
      </p:sp>
      <p:sp>
        <p:nvSpPr>
          <p:cNvPr id="8" name="Text 6"/>
          <p:cNvSpPr/>
          <p:nvPr/>
        </p:nvSpPr>
        <p:spPr>
          <a:xfrm>
            <a:off x="640080" y="3200400"/>
            <a:ext cx="4572000" cy="2560320"/>
          </a:xfrm>
          <a:prstGeom prst="rect">
            <a:avLst/>
          </a:prstGeom>
          <a:noFill/>
          <a:ln/>
        </p:spPr>
        <p:txBody>
          <a:bodyPr wrap="square" lIns="0" tIns="0" rIns="0" bIns="0" rtlCol="0" anchor="ctr"/>
          <a:lstStyle/>
          <a:p>
            <a:pPr indent="0" marL="0">
              <a:buNone/>
            </a:pPr>
            <a:r>
              <a:rPr lang="en-US" sz="1300" dirty="0">
                <a:solidFill>
                  <a:srgbClr val="EDEAE0"/>
                </a:solidFill>
                <a:latin typeface="Calibri" pitchFamily="34" charset="0"/>
                <a:ea typeface="Calibri" pitchFamily="34" charset="-122"/>
                <a:cs typeface="Calibri" pitchFamily="34" charset="-120"/>
              </a:rPr>
              <a:t>Two stoves: bad has burners in 2×2 but knobs in a row, breaking spatial mapping. Good keeps both in 2×2 — the position of each knob is its label. Click a burner letter, then guess its knob.</a:t>
            </a:r>
            <a:endParaRPr lang="en-US" sz="1300" dirty="0"/>
          </a:p>
        </p:txBody>
      </p:sp>
      <p:pic>
        <p:nvPicPr>
          <p:cNvPr id="9" name="Image 0" descr="D:\hci\.shots\06-norman-stove.png">    </p:cNvPr>
          <p:cNvPicPr>
            <a:picLocks noChangeAspect="1"/>
          </p:cNvPicPr>
          <p:nvPr/>
        </p:nvPicPr>
        <p:blipFill>
          <a:blip r:embed="rId1"/>
          <a:stretch>
            <a:fillRect/>
          </a:stretch>
        </p:blipFill>
        <p:spPr>
          <a:xfrm>
            <a:off x="5486400" y="1680210"/>
            <a:ext cx="6217920" cy="34975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09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05 / NIELSEN</a:t>
            </a:r>
            <a:endParaRPr lang="en-US" sz="1000" dirty="0"/>
          </a:p>
        </p:txBody>
      </p:sp>
      <p:sp>
        <p:nvSpPr>
          <p:cNvPr id="6" name="Text 4"/>
          <p:cNvSpPr/>
          <p:nvPr/>
        </p:nvSpPr>
        <p:spPr>
          <a:xfrm>
            <a:off x="640080" y="914400"/>
            <a:ext cx="4572000" cy="1280160"/>
          </a:xfrm>
          <a:prstGeom prst="rect">
            <a:avLst/>
          </a:prstGeom>
          <a:noFill/>
          <a:ln/>
        </p:spPr>
        <p:txBody>
          <a:bodyPr wrap="square" lIns="0" tIns="0" rIns="0" bIns="0" rtlCol="0" anchor="ctr"/>
          <a:lstStyle/>
          <a:p>
            <a:pPr indent="0" marL="0">
              <a:buNone/>
            </a:pPr>
            <a:r>
              <a:rPr lang="en-US" sz="5000" spc="-100" kern="0" dirty="0">
                <a:solidFill>
                  <a:srgbClr val="EDEAE0"/>
                </a:solidFill>
                <a:latin typeface="Georgia" pitchFamily="34" charset="0"/>
                <a:ea typeface="Georgia" pitchFamily="34" charset="-122"/>
                <a:cs typeface="Georgia" pitchFamily="34" charset="-120"/>
              </a:rPr>
              <a:t>Nielsen's </a:t>
            </a:r>
            <a:pPr indent="0" marL="0">
              <a:buNone/>
            </a:pPr>
            <a:r>
              <a:rPr lang="en-US" sz="5000" i="1" spc="-100" kern="0" dirty="0">
                <a:solidFill>
                  <a:srgbClr val="E8B547"/>
                </a:solidFill>
                <a:latin typeface="Georgia" pitchFamily="34" charset="0"/>
                <a:ea typeface="Georgia" pitchFamily="34" charset="-122"/>
                <a:cs typeface="Georgia" pitchFamily="34" charset="-120"/>
              </a:rPr>
              <a:t>Ten</a:t>
            </a:r>
            <a:endParaRPr lang="en-US" sz="5000" dirty="0"/>
          </a:p>
        </p:txBody>
      </p:sp>
      <p:sp>
        <p:nvSpPr>
          <p:cNvPr id="7" name="Text 5"/>
          <p:cNvSpPr/>
          <p:nvPr/>
        </p:nvSpPr>
        <p:spPr>
          <a:xfrm>
            <a:off x="640080" y="2286000"/>
            <a:ext cx="4572000" cy="914400"/>
          </a:xfrm>
          <a:prstGeom prst="rect">
            <a:avLst/>
          </a:prstGeom>
          <a:noFill/>
          <a:ln/>
        </p:spPr>
        <p:txBody>
          <a:bodyPr wrap="square" lIns="0" tIns="0" rIns="0" bIns="0" rtlCol="0" anchor="ctr"/>
          <a:lstStyle/>
          <a:p>
            <a:pPr indent="0" marL="0">
              <a:buNone/>
            </a:pPr>
            <a:r>
              <a:rPr lang="en-US" sz="1300" i="1" dirty="0">
                <a:solidFill>
                  <a:srgbClr val="BCB5A6"/>
                </a:solidFill>
                <a:latin typeface="Calibri" pitchFamily="34" charset="0"/>
                <a:ea typeface="Calibri" pitchFamily="34" charset="-122"/>
                <a:cs typeface="Calibri" pitchFamily="34" charset="-120"/>
              </a:rPr>
              <a:t>Cheap, fast inspection. One reviewer finds ~35% of issues; five find ~75%.</a:t>
            </a:r>
            <a:endParaRPr lang="en-US" sz="1300" dirty="0"/>
          </a:p>
        </p:txBody>
      </p:sp>
      <p:sp>
        <p:nvSpPr>
          <p:cNvPr id="8" name="Text 6"/>
          <p:cNvSpPr/>
          <p:nvPr/>
        </p:nvSpPr>
        <p:spPr>
          <a:xfrm>
            <a:off x="640080" y="3200400"/>
            <a:ext cx="4572000" cy="2560320"/>
          </a:xfrm>
          <a:prstGeom prst="rect">
            <a:avLst/>
          </a:prstGeom>
          <a:noFill/>
          <a:ln/>
        </p:spPr>
        <p:txBody>
          <a:bodyPr wrap="square" lIns="0" tIns="0" rIns="0" bIns="0" rtlCol="0" anchor="ctr"/>
          <a:lstStyle/>
          <a:p>
            <a:pPr indent="0" marL="0">
              <a:buNone/>
            </a:pPr>
            <a:r>
              <a:rPr lang="en-US" sz="1300" dirty="0">
                <a:solidFill>
                  <a:srgbClr val="EDEAE0"/>
                </a:solidFill>
                <a:latin typeface="Calibri" pitchFamily="34" charset="0"/>
                <a:ea typeface="Calibri" pitchFamily="34" charset="-122"/>
                <a:cs typeface="Calibri" pitchFamily="34" charset="-120"/>
              </a:rPr>
              <a:t>All ten heuristics, each as a clickable card. Click any card to open a modal with side-by-side visual mockups — the broken UI vs the fixed one — for that heuristic. The principle is taught by showing, not telling.</a:t>
            </a:r>
            <a:endParaRPr lang="en-US" sz="1300" dirty="0"/>
          </a:p>
        </p:txBody>
      </p:sp>
      <p:pic>
        <p:nvPicPr>
          <p:cNvPr id="9" name="Image 0" descr="D:\hci\.shots\07-nielsen-grid.png">    </p:cNvPr>
          <p:cNvPicPr>
            <a:picLocks noChangeAspect="1"/>
          </p:cNvPicPr>
          <p:nvPr/>
        </p:nvPicPr>
        <p:blipFill>
          <a:blip r:embed="rId1"/>
          <a:stretch>
            <a:fillRect/>
          </a:stretch>
        </p:blipFill>
        <p:spPr>
          <a:xfrm>
            <a:off x="5486400" y="1680210"/>
            <a:ext cx="6217920" cy="34975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10 / 18</a:t>
            </a:r>
            <a:endParaRPr lang="en-US" sz="900" dirty="0"/>
          </a:p>
        </p:txBody>
      </p:sp>
      <p:sp>
        <p:nvSpPr>
          <p:cNvPr id="5" name="Text 3"/>
          <p:cNvSpPr/>
          <p:nvPr/>
        </p:nvSpPr>
        <p:spPr>
          <a:xfrm>
            <a:off x="640080" y="502920"/>
            <a:ext cx="73152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05 / NIELSEN — A SINGLE HEURISTIC</a:t>
            </a:r>
            <a:endParaRPr lang="en-US" sz="1000" dirty="0"/>
          </a:p>
        </p:txBody>
      </p:sp>
      <p:sp>
        <p:nvSpPr>
          <p:cNvPr id="6" name="Text 4"/>
          <p:cNvSpPr/>
          <p:nvPr/>
        </p:nvSpPr>
        <p:spPr>
          <a:xfrm>
            <a:off x="640080" y="868680"/>
            <a:ext cx="10972800" cy="822960"/>
          </a:xfrm>
          <a:prstGeom prst="rect">
            <a:avLst/>
          </a:prstGeom>
          <a:noFill/>
          <a:ln/>
        </p:spPr>
        <p:txBody>
          <a:bodyPr wrap="square" lIns="0" tIns="0" rIns="0" bIns="0" rtlCol="0" anchor="ctr"/>
          <a:lstStyle/>
          <a:p>
            <a:pPr indent="0" marL="0">
              <a:buNone/>
            </a:pPr>
            <a:r>
              <a:rPr lang="en-US" sz="3800" spc="-100" kern="0" dirty="0">
                <a:solidFill>
                  <a:srgbClr val="EDEAE0"/>
                </a:solidFill>
                <a:latin typeface="Georgia" pitchFamily="34" charset="0"/>
                <a:ea typeface="Georgia" pitchFamily="34" charset="-122"/>
                <a:cs typeface="Georgia" pitchFamily="34" charset="-120"/>
              </a:rPr>
              <a:t>Each heuristic, </a:t>
            </a:r>
            <a:pPr indent="0" marL="0">
              <a:buNone/>
            </a:pPr>
            <a:r>
              <a:rPr lang="en-US" sz="3800" i="1" spc="-100" kern="0" dirty="0">
                <a:solidFill>
                  <a:srgbClr val="E8B547"/>
                </a:solidFill>
                <a:latin typeface="Georgia" pitchFamily="34" charset="0"/>
                <a:ea typeface="Georgia" pitchFamily="34" charset="-122"/>
                <a:cs typeface="Georgia" pitchFamily="34" charset="-120"/>
              </a:rPr>
              <a:t>demonstrated</a:t>
            </a:r>
            <a:pPr indent="0" marL="0">
              <a:buNone/>
            </a:pPr>
            <a:r>
              <a:rPr lang="en-US" sz="3800" spc="-100" kern="0" dirty="0">
                <a:solidFill>
                  <a:srgbClr val="EDEAE0"/>
                </a:solidFill>
                <a:latin typeface="Georgia" pitchFamily="34" charset="0"/>
                <a:ea typeface="Georgia" pitchFamily="34" charset="-122"/>
                <a:cs typeface="Georgia" pitchFamily="34" charset="-120"/>
              </a:rPr>
              <a:t>.</a:t>
            </a:r>
            <a:endParaRPr lang="en-US" sz="3800" dirty="0"/>
          </a:p>
        </p:txBody>
      </p:sp>
      <p:pic>
        <p:nvPicPr>
          <p:cNvPr id="7" name="Image 0" descr="D:\hci\.shots\08-nielsen-modal.png">    </p:cNvPr>
          <p:cNvPicPr>
            <a:picLocks noChangeAspect="1"/>
          </p:cNvPicPr>
          <p:nvPr/>
        </p:nvPicPr>
        <p:blipFill>
          <a:blip r:embed="rId1"/>
          <a:stretch>
            <a:fillRect/>
          </a:stretch>
        </p:blipFill>
        <p:spPr>
          <a:xfrm>
            <a:off x="1051560" y="1828800"/>
            <a:ext cx="10058400" cy="5657850"/>
          </a:xfrm>
          <a:prstGeom prst="rect">
            <a:avLst/>
          </a:prstGeom>
        </p:spPr>
      </p:pic>
      <p:sp>
        <p:nvSpPr>
          <p:cNvPr id="8" name="Text 5"/>
          <p:cNvSpPr/>
          <p:nvPr/>
        </p:nvSpPr>
        <p:spPr>
          <a:xfrm>
            <a:off x="640080" y="7623810"/>
            <a:ext cx="10881360" cy="640080"/>
          </a:xfrm>
          <a:prstGeom prst="rect">
            <a:avLst/>
          </a:prstGeom>
          <a:noFill/>
          <a:ln/>
        </p:spPr>
        <p:txBody>
          <a:bodyPr wrap="square" lIns="0" tIns="0" rIns="0" bIns="0" rtlCol="0" anchor="ctr"/>
          <a:lstStyle/>
          <a:p>
            <a:pPr algn="ctr" indent="0" marL="0">
              <a:buNone/>
            </a:pPr>
            <a:r>
              <a:rPr lang="en-US" sz="1300" i="1" dirty="0">
                <a:solidFill>
                  <a:srgbClr val="BCB5A6"/>
                </a:solidFill>
                <a:latin typeface="Calibri" pitchFamily="34" charset="0"/>
                <a:ea typeface="Calibri" pitchFamily="34" charset="-122"/>
                <a:cs typeface="Calibri" pitchFamily="34" charset="-120"/>
              </a:rPr>
              <a:t>"Visibility of system status" — silent SAVE button on the left vs SAVE → spinner → "Saved 2s ago" on the right. Ten heuristics, twenty mini UIs, all hand-drawn in CSS — no images.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11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06.A / GOMS · KLM</a:t>
            </a:r>
            <a:endParaRPr lang="en-US" sz="1000" dirty="0"/>
          </a:p>
        </p:txBody>
      </p:sp>
      <p:sp>
        <p:nvSpPr>
          <p:cNvPr id="6" name="Text 4"/>
          <p:cNvSpPr/>
          <p:nvPr/>
        </p:nvSpPr>
        <p:spPr>
          <a:xfrm>
            <a:off x="640080" y="914400"/>
            <a:ext cx="4572000" cy="1280160"/>
          </a:xfrm>
          <a:prstGeom prst="rect">
            <a:avLst/>
          </a:prstGeom>
          <a:noFill/>
          <a:ln/>
        </p:spPr>
        <p:txBody>
          <a:bodyPr wrap="square" lIns="0" tIns="0" rIns="0" bIns="0" rtlCol="0" anchor="ctr"/>
          <a:lstStyle/>
          <a:p>
            <a:pPr indent="0" marL="0">
              <a:buNone/>
            </a:pPr>
            <a:r>
              <a:rPr lang="en-US" sz="5000" spc="-100" kern="0" dirty="0">
                <a:solidFill>
                  <a:srgbClr val="EDEAE0"/>
                </a:solidFill>
                <a:latin typeface="Georgia" pitchFamily="34" charset="0"/>
                <a:ea typeface="Georgia" pitchFamily="34" charset="-122"/>
                <a:cs typeface="Georgia" pitchFamily="34" charset="-120"/>
              </a:rPr>
              <a:t>GOMS · </a:t>
            </a:r>
            <a:pPr indent="0" marL="0">
              <a:buNone/>
            </a:pPr>
            <a:r>
              <a:rPr lang="en-US" sz="5000" i="1" spc="-100" kern="0" dirty="0">
                <a:solidFill>
                  <a:srgbClr val="E8B547"/>
                </a:solidFill>
                <a:latin typeface="Georgia" pitchFamily="34" charset="0"/>
                <a:ea typeface="Georgia" pitchFamily="34" charset="-122"/>
                <a:cs typeface="Georgia" pitchFamily="34" charset="-120"/>
              </a:rPr>
              <a:t>KLM</a:t>
            </a:r>
            <a:endParaRPr lang="en-US" sz="5000" dirty="0"/>
          </a:p>
        </p:txBody>
      </p:sp>
      <p:sp>
        <p:nvSpPr>
          <p:cNvPr id="7" name="Text 5"/>
          <p:cNvSpPr/>
          <p:nvPr/>
        </p:nvSpPr>
        <p:spPr>
          <a:xfrm>
            <a:off x="640080" y="2286000"/>
            <a:ext cx="4572000" cy="914400"/>
          </a:xfrm>
          <a:prstGeom prst="rect">
            <a:avLst/>
          </a:prstGeom>
          <a:noFill/>
          <a:ln/>
        </p:spPr>
        <p:txBody>
          <a:bodyPr wrap="square" lIns="0" tIns="0" rIns="0" bIns="0" rtlCol="0" anchor="ctr"/>
          <a:lstStyle/>
          <a:p>
            <a:pPr indent="0" marL="0">
              <a:buNone/>
            </a:pPr>
            <a:r>
              <a:rPr lang="en-US" sz="1300" i="1" dirty="0">
                <a:solidFill>
                  <a:srgbClr val="BCB5A6"/>
                </a:solidFill>
                <a:latin typeface="Calibri" pitchFamily="34" charset="0"/>
                <a:ea typeface="Calibri" pitchFamily="34" charset="-122"/>
                <a:cs typeface="Calibri" pitchFamily="34" charset="-120"/>
              </a:rPr>
              <a:t>Predict expert task time before you build. Sum the keystrokes — the cheapest usability test you'll ever run.</a:t>
            </a:r>
            <a:endParaRPr lang="en-US" sz="1300" dirty="0"/>
          </a:p>
        </p:txBody>
      </p:sp>
      <p:sp>
        <p:nvSpPr>
          <p:cNvPr id="8" name="Text 6"/>
          <p:cNvSpPr/>
          <p:nvPr/>
        </p:nvSpPr>
        <p:spPr>
          <a:xfrm>
            <a:off x="640080" y="3200400"/>
            <a:ext cx="4572000" cy="2560320"/>
          </a:xfrm>
          <a:prstGeom prst="rect">
            <a:avLst/>
          </a:prstGeom>
          <a:noFill/>
          <a:ln/>
        </p:spPr>
        <p:txBody>
          <a:bodyPr wrap="square" lIns="0" tIns="0" rIns="0" bIns="0" rtlCol="0" anchor="ctr"/>
          <a:lstStyle/>
          <a:p>
            <a:pPr indent="0" marL="0">
              <a:buNone/>
            </a:pPr>
            <a:r>
              <a:rPr lang="en-US" sz="1300" dirty="0">
                <a:solidFill>
                  <a:srgbClr val="EDEAE0"/>
                </a:solidFill>
                <a:latin typeface="Calibri" pitchFamily="34" charset="0"/>
                <a:ea typeface="Calibri" pitchFamily="34" charset="-122"/>
                <a:cs typeface="Calibri" pitchFamily="34" charset="-120"/>
              </a:rPr>
              <a:t>Five primitive operators (K, P, H, M, R), each a button with name, cost, and a real-world example. Tap any one to add a token to the timeline — each token shows what it added and the running total.</a:t>
            </a:r>
            <a:endParaRPr lang="en-US" sz="1300" dirty="0"/>
          </a:p>
        </p:txBody>
      </p:sp>
      <p:pic>
        <p:nvPicPr>
          <p:cNvPr id="9" name="Image 0" descr="D:\hci\.shots\09-klm.png">    </p:cNvPr>
          <p:cNvPicPr>
            <a:picLocks noChangeAspect="1"/>
          </p:cNvPicPr>
          <p:nvPr/>
        </p:nvPicPr>
        <p:blipFill>
          <a:blip r:embed="rId1"/>
          <a:stretch>
            <a:fillRect/>
          </a:stretch>
        </p:blipFill>
        <p:spPr>
          <a:xfrm>
            <a:off x="5486400" y="1680210"/>
            <a:ext cx="6217920" cy="34975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12 / 18</a:t>
            </a:r>
            <a:endParaRPr lang="en-US" sz="900" dirty="0"/>
          </a:p>
        </p:txBody>
      </p:sp>
      <p:sp>
        <p:nvSpPr>
          <p:cNvPr id="5" name="Text 3"/>
          <p:cNvSpPr/>
          <p:nvPr/>
        </p:nvSpPr>
        <p:spPr>
          <a:xfrm>
            <a:off x="640080" y="502920"/>
            <a:ext cx="73152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06.B / KLM — GUIDED SCENARIO</a:t>
            </a:r>
            <a:endParaRPr lang="en-US" sz="1000" dirty="0"/>
          </a:p>
        </p:txBody>
      </p:sp>
      <p:sp>
        <p:nvSpPr>
          <p:cNvPr id="6" name="Text 4"/>
          <p:cNvSpPr/>
          <p:nvPr/>
        </p:nvSpPr>
        <p:spPr>
          <a:xfrm>
            <a:off x="640080" y="868680"/>
            <a:ext cx="10972800" cy="822960"/>
          </a:xfrm>
          <a:prstGeom prst="rect">
            <a:avLst/>
          </a:prstGeom>
          <a:noFill/>
          <a:ln/>
        </p:spPr>
        <p:txBody>
          <a:bodyPr wrap="square" lIns="0" tIns="0" rIns="0" bIns="0" rtlCol="0" anchor="ctr"/>
          <a:lstStyle/>
          <a:p>
            <a:pPr indent="0" marL="0">
              <a:buNone/>
            </a:pPr>
            <a:r>
              <a:rPr lang="en-US" sz="3800" spc="-100" kern="0" dirty="0">
                <a:solidFill>
                  <a:srgbClr val="EDEAE0"/>
                </a:solidFill>
                <a:latin typeface="Georgia" pitchFamily="34" charset="0"/>
                <a:ea typeface="Georgia" pitchFamily="34" charset="-122"/>
                <a:cs typeface="Georgia" pitchFamily="34" charset="-120"/>
              </a:rPr>
              <a:t>Three guided </a:t>
            </a:r>
            <a:pPr indent="0" marL="0">
              <a:buNone/>
            </a:pPr>
            <a:r>
              <a:rPr lang="en-US" sz="3800" i="1" spc="-100" kern="0" dirty="0">
                <a:solidFill>
                  <a:srgbClr val="E8B547"/>
                </a:solidFill>
                <a:latin typeface="Georgia" pitchFamily="34" charset="0"/>
                <a:ea typeface="Georgia" pitchFamily="34" charset="-122"/>
                <a:cs typeface="Georgia" pitchFamily="34" charset="-120"/>
              </a:rPr>
              <a:t>scenarios</a:t>
            </a:r>
            <a:pPr indent="0" marL="0">
              <a:buNone/>
            </a:pPr>
            <a:r>
              <a:rPr lang="en-US" sz="3800" spc="-100" kern="0" dirty="0">
                <a:solidFill>
                  <a:srgbClr val="EDEAE0"/>
                </a:solidFill>
                <a:latin typeface="Georgia" pitchFamily="34" charset="0"/>
                <a:ea typeface="Georgia" pitchFamily="34" charset="-122"/>
                <a:cs typeface="Georgia" pitchFamily="34" charset="-120"/>
              </a:rPr>
              <a:t>.</a:t>
            </a:r>
            <a:endParaRPr lang="en-US" sz="3800" dirty="0"/>
          </a:p>
        </p:txBody>
      </p:sp>
      <p:pic>
        <p:nvPicPr>
          <p:cNvPr id="7" name="Image 0" descr="D:\hci\.shots\10-klm-playing.png">    </p:cNvPr>
          <p:cNvPicPr>
            <a:picLocks noChangeAspect="1"/>
          </p:cNvPicPr>
          <p:nvPr/>
        </p:nvPicPr>
        <p:blipFill>
          <a:blip r:embed="rId1"/>
          <a:stretch>
            <a:fillRect/>
          </a:stretch>
        </p:blipFill>
        <p:spPr>
          <a:xfrm>
            <a:off x="1051560" y="1828800"/>
            <a:ext cx="10058400" cy="5657850"/>
          </a:xfrm>
          <a:prstGeom prst="rect">
            <a:avLst/>
          </a:prstGeom>
        </p:spPr>
      </p:pic>
      <p:sp>
        <p:nvSpPr>
          <p:cNvPr id="8" name="Text 5"/>
          <p:cNvSpPr/>
          <p:nvPr/>
        </p:nvSpPr>
        <p:spPr>
          <a:xfrm>
            <a:off x="640080" y="7623810"/>
            <a:ext cx="10881360" cy="822960"/>
          </a:xfrm>
          <a:prstGeom prst="rect">
            <a:avLst/>
          </a:prstGeom>
          <a:noFill/>
          <a:ln/>
        </p:spPr>
        <p:txBody>
          <a:bodyPr wrap="square" lIns="0" tIns="0" rIns="0" bIns="0" rtlCol="0" anchor="ctr"/>
          <a:lstStyle/>
          <a:p>
            <a:pPr algn="ctr" indent="0" marL="0">
              <a:buNone/>
            </a:pPr>
            <a:r>
              <a:rPr lang="en-US" sz="1300" i="1" dirty="0">
                <a:solidFill>
                  <a:srgbClr val="BCB5A6"/>
                </a:solidFill>
                <a:latin typeface="Calibri" pitchFamily="34" charset="0"/>
                <a:ea typeface="Calibri" pitchFamily="34" charset="-122"/>
                <a:cs typeface="Calibri" pitchFamily="34" charset="-120"/>
              </a:rPr>
              <a:t>"Search HCI on Google" plays back step-by-step — tokens land in the timeline on the left while the right panel reads "Step 4 of 7: Type the letter C · +0.20s · running total 2.85s." A stacked bar shows what proportion is mental act vs keystroke.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13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07 / COLOUR</a:t>
            </a:r>
            <a:endParaRPr lang="en-US" sz="1000" dirty="0"/>
          </a:p>
        </p:txBody>
      </p:sp>
      <p:sp>
        <p:nvSpPr>
          <p:cNvPr id="6" name="Text 4"/>
          <p:cNvSpPr/>
          <p:nvPr/>
        </p:nvSpPr>
        <p:spPr>
          <a:xfrm>
            <a:off x="640080" y="914400"/>
            <a:ext cx="4572000" cy="1280160"/>
          </a:xfrm>
          <a:prstGeom prst="rect">
            <a:avLst/>
          </a:prstGeom>
          <a:noFill/>
          <a:ln/>
        </p:spPr>
        <p:txBody>
          <a:bodyPr wrap="square" lIns="0" tIns="0" rIns="0" bIns="0" rtlCol="0" anchor="ctr"/>
          <a:lstStyle/>
          <a:p>
            <a:pPr indent="0" marL="0">
              <a:buNone/>
            </a:pPr>
            <a:r>
              <a:rPr lang="en-US" sz="5000" spc="-100" kern="0" dirty="0">
                <a:solidFill>
                  <a:srgbClr val="EDEAE0"/>
                </a:solidFill>
                <a:latin typeface="Georgia" pitchFamily="34" charset="0"/>
                <a:ea typeface="Georgia" pitchFamily="34" charset="-122"/>
                <a:cs typeface="Georgia" pitchFamily="34" charset="-120"/>
              </a:rPr>
              <a:t>Colour &amp; </a:t>
            </a:r>
            <a:pPr indent="0" marL="0">
              <a:buNone/>
            </a:pPr>
            <a:r>
              <a:rPr lang="en-US" sz="5000" i="1" spc="-100" kern="0" dirty="0">
                <a:solidFill>
                  <a:srgbClr val="E8B547"/>
                </a:solidFill>
                <a:latin typeface="Georgia" pitchFamily="34" charset="0"/>
                <a:ea typeface="Georgia" pitchFamily="34" charset="-122"/>
                <a:cs typeface="Georgia" pitchFamily="34" charset="-120"/>
              </a:rPr>
              <a:t>Contrast</a:t>
            </a:r>
            <a:endParaRPr lang="en-US" sz="5000" dirty="0"/>
          </a:p>
        </p:txBody>
      </p:sp>
      <p:sp>
        <p:nvSpPr>
          <p:cNvPr id="7" name="Text 5"/>
          <p:cNvSpPr/>
          <p:nvPr/>
        </p:nvSpPr>
        <p:spPr>
          <a:xfrm>
            <a:off x="640080" y="2286000"/>
            <a:ext cx="4572000" cy="914400"/>
          </a:xfrm>
          <a:prstGeom prst="rect">
            <a:avLst/>
          </a:prstGeom>
          <a:noFill/>
          <a:ln/>
        </p:spPr>
        <p:txBody>
          <a:bodyPr wrap="square" lIns="0" tIns="0" rIns="0" bIns="0" rtlCol="0" anchor="ctr"/>
          <a:lstStyle/>
          <a:p>
            <a:pPr indent="0" marL="0">
              <a:buNone/>
            </a:pPr>
            <a:r>
              <a:rPr lang="en-US" sz="1300" i="1" dirty="0">
                <a:solidFill>
                  <a:srgbClr val="BCB5A6"/>
                </a:solidFill>
                <a:latin typeface="Calibri" pitchFamily="34" charset="0"/>
                <a:ea typeface="Calibri" pitchFamily="34" charset="-122"/>
                <a:cs typeface="Calibri" pitchFamily="34" charset="-120"/>
              </a:rPr>
              <a:t>WCAG demands 4.5:1 for body text, 3:1 for large. Below that, ~10% of your readers cannot see your interface.</a:t>
            </a:r>
            <a:endParaRPr lang="en-US" sz="1300" dirty="0"/>
          </a:p>
        </p:txBody>
      </p:sp>
      <p:sp>
        <p:nvSpPr>
          <p:cNvPr id="8" name="Text 6"/>
          <p:cNvSpPr/>
          <p:nvPr/>
        </p:nvSpPr>
        <p:spPr>
          <a:xfrm>
            <a:off x="640080" y="3200400"/>
            <a:ext cx="4572000" cy="2560320"/>
          </a:xfrm>
          <a:prstGeom prst="rect">
            <a:avLst/>
          </a:prstGeom>
          <a:noFill/>
          <a:ln/>
        </p:spPr>
        <p:txBody>
          <a:bodyPr wrap="square" lIns="0" tIns="0" rIns="0" bIns="0" rtlCol="0" anchor="ctr"/>
          <a:lstStyle/>
          <a:p>
            <a:pPr indent="0" marL="0">
              <a:buNone/>
            </a:pPr>
            <a:r>
              <a:rPr lang="en-US" sz="1300" dirty="0">
                <a:solidFill>
                  <a:srgbClr val="EDEAE0"/>
                </a:solidFill>
                <a:latin typeface="Calibri" pitchFamily="34" charset="0"/>
                <a:ea typeface="Calibri" pitchFamily="34" charset="-122"/>
                <a:cs typeface="Calibri" pitchFamily="34" charset="-120"/>
              </a:rPr>
              <a:t>Two colour pickers — foreground and background. The site computes the WCAG 2.x relative luminance ratio in real time and stamps four pass / fail badges (AA / AAA × normal / large).</a:t>
            </a:r>
            <a:endParaRPr lang="en-US" sz="1300" dirty="0"/>
          </a:p>
        </p:txBody>
      </p:sp>
      <p:pic>
        <p:nvPicPr>
          <p:cNvPr id="9" name="Image 0" descr="D:\hci\.shots\11-color.png">    </p:cNvPr>
          <p:cNvPicPr>
            <a:picLocks noChangeAspect="1"/>
          </p:cNvPicPr>
          <p:nvPr/>
        </p:nvPicPr>
        <p:blipFill>
          <a:blip r:embed="rId1"/>
          <a:stretch>
            <a:fillRect/>
          </a:stretch>
        </p:blipFill>
        <p:spPr>
          <a:xfrm>
            <a:off x="5486400" y="1680210"/>
            <a:ext cx="6217920" cy="34975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14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08 / A11Y</a:t>
            </a:r>
            <a:endParaRPr lang="en-US" sz="1000" dirty="0"/>
          </a:p>
        </p:txBody>
      </p:sp>
      <p:sp>
        <p:nvSpPr>
          <p:cNvPr id="6" name="Text 4"/>
          <p:cNvSpPr/>
          <p:nvPr/>
        </p:nvSpPr>
        <p:spPr>
          <a:xfrm>
            <a:off x="640080" y="914400"/>
            <a:ext cx="4572000" cy="1280160"/>
          </a:xfrm>
          <a:prstGeom prst="rect">
            <a:avLst/>
          </a:prstGeom>
          <a:noFill/>
          <a:ln/>
        </p:spPr>
        <p:txBody>
          <a:bodyPr wrap="square" lIns="0" tIns="0" rIns="0" bIns="0" rtlCol="0" anchor="ctr"/>
          <a:lstStyle/>
          <a:p>
            <a:pPr indent="0" marL="0">
              <a:buNone/>
            </a:pPr>
            <a:r>
              <a:rPr lang="en-US" sz="5000" spc="-100" kern="0" dirty="0">
                <a:solidFill>
                  <a:srgbClr val="EDEAE0"/>
                </a:solidFill>
                <a:latin typeface="Georgia" pitchFamily="34" charset="0"/>
                <a:ea typeface="Georgia" pitchFamily="34" charset="-122"/>
                <a:cs typeface="Georgia" pitchFamily="34" charset="-120"/>
              </a:rPr>
              <a:t>Accessibility </a:t>
            </a:r>
            <a:pPr indent="0" marL="0">
              <a:buNone/>
            </a:pPr>
            <a:r>
              <a:rPr lang="en-US" sz="5000" i="1" spc="-100" kern="0" dirty="0">
                <a:solidFill>
                  <a:srgbClr val="E8B547"/>
                </a:solidFill>
                <a:latin typeface="Georgia" pitchFamily="34" charset="0"/>
                <a:ea typeface="Georgia" pitchFamily="34" charset="-122"/>
                <a:cs typeface="Georgia" pitchFamily="34" charset="-120"/>
              </a:rPr>
              <a:t>Sim</a:t>
            </a:r>
            <a:endParaRPr lang="en-US" sz="5000" dirty="0"/>
          </a:p>
        </p:txBody>
      </p:sp>
      <p:sp>
        <p:nvSpPr>
          <p:cNvPr id="7" name="Text 5"/>
          <p:cNvSpPr/>
          <p:nvPr/>
        </p:nvSpPr>
        <p:spPr>
          <a:xfrm>
            <a:off x="640080" y="2286000"/>
            <a:ext cx="4572000" cy="914400"/>
          </a:xfrm>
          <a:prstGeom prst="rect">
            <a:avLst/>
          </a:prstGeom>
          <a:noFill/>
          <a:ln/>
        </p:spPr>
        <p:txBody>
          <a:bodyPr wrap="square" lIns="0" tIns="0" rIns="0" bIns="0" rtlCol="0" anchor="ctr"/>
          <a:lstStyle/>
          <a:p>
            <a:pPr indent="0" marL="0">
              <a:buNone/>
            </a:pPr>
            <a:r>
              <a:rPr lang="en-US" sz="1300" i="1" dirty="0">
                <a:solidFill>
                  <a:srgbClr val="BCB5A6"/>
                </a:solidFill>
                <a:latin typeface="Calibri" pitchFamily="34" charset="0"/>
                <a:ea typeface="Calibri" pitchFamily="34" charset="-122"/>
                <a:cs typeface="Calibri" pitchFamily="34" charset="-120"/>
              </a:rPr>
              <a:t>The fastest way to design for everyone is to take away your senses one at a time and try again.</a:t>
            </a:r>
            <a:endParaRPr lang="en-US" sz="1300" dirty="0"/>
          </a:p>
        </p:txBody>
      </p:sp>
      <p:sp>
        <p:nvSpPr>
          <p:cNvPr id="8" name="Text 6"/>
          <p:cNvSpPr/>
          <p:nvPr/>
        </p:nvSpPr>
        <p:spPr>
          <a:xfrm>
            <a:off x="640080" y="3200400"/>
            <a:ext cx="4572000" cy="2560320"/>
          </a:xfrm>
          <a:prstGeom prst="rect">
            <a:avLst/>
          </a:prstGeom>
          <a:noFill/>
          <a:ln/>
        </p:spPr>
        <p:txBody>
          <a:bodyPr wrap="square" lIns="0" tIns="0" rIns="0" bIns="0" rtlCol="0" anchor="ctr"/>
          <a:lstStyle/>
          <a:p>
            <a:pPr indent="0" marL="0">
              <a:buNone/>
            </a:pPr>
            <a:r>
              <a:rPr lang="en-US" sz="1300" dirty="0">
                <a:solidFill>
                  <a:srgbClr val="EDEAE0"/>
                </a:solidFill>
                <a:latin typeface="Calibri" pitchFamily="34" charset="0"/>
                <a:ea typeface="Calibri" pitchFamily="34" charset="-122"/>
                <a:cs typeface="Calibri" pitchFamily="34" charset="-120"/>
              </a:rPr>
              <a:t>Four toggles let you experience the form as four different users. Screen-reader narration speaks each label aloud through your speakers (real Speech Synthesis API). High contrast desaturates and amplifies. Reduce motion cancels animations. The colour-blind filter shows a protanope view.</a:t>
            </a:r>
            <a:endParaRPr lang="en-US" sz="1300" dirty="0"/>
          </a:p>
        </p:txBody>
      </p:sp>
      <p:pic>
        <p:nvPicPr>
          <p:cNvPr id="9" name="Image 0" descr="D:\hci\.shots\12-a11y.png">    </p:cNvPr>
          <p:cNvPicPr>
            <a:picLocks noChangeAspect="1"/>
          </p:cNvPicPr>
          <p:nvPr/>
        </p:nvPicPr>
        <p:blipFill>
          <a:blip r:embed="rId1"/>
          <a:stretch>
            <a:fillRect/>
          </a:stretch>
        </p:blipFill>
        <p:spPr>
          <a:xfrm>
            <a:off x="5486400" y="1680210"/>
            <a:ext cx="6217920" cy="34975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15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AUDIT</a:t>
            </a:r>
            <a:endParaRPr lang="en-US" sz="1000" dirty="0"/>
          </a:p>
        </p:txBody>
      </p:sp>
      <p:sp>
        <p:nvSpPr>
          <p:cNvPr id="6" name="Text 4"/>
          <p:cNvSpPr/>
          <p:nvPr/>
        </p:nvSpPr>
        <p:spPr>
          <a:xfrm>
            <a:off x="640080" y="868680"/>
            <a:ext cx="10972800" cy="1097280"/>
          </a:xfrm>
          <a:prstGeom prst="rect">
            <a:avLst/>
          </a:prstGeom>
          <a:noFill/>
          <a:ln/>
        </p:spPr>
        <p:txBody>
          <a:bodyPr wrap="square" lIns="0" tIns="0" rIns="0" bIns="0" rtlCol="0" anchor="ctr"/>
          <a:lstStyle/>
          <a:p>
            <a:pPr indent="0" marL="0">
              <a:buNone/>
            </a:pPr>
            <a:r>
              <a:rPr lang="en-US" sz="4200" spc="-100" kern="0" dirty="0">
                <a:solidFill>
                  <a:srgbClr val="EDEAE0"/>
                </a:solidFill>
                <a:latin typeface="Georgia" pitchFamily="34" charset="0"/>
                <a:ea typeface="Georgia" pitchFamily="34" charset="-122"/>
                <a:cs typeface="Georgia" pitchFamily="34" charset="-120"/>
              </a:rPr>
              <a:t>Does the site </a:t>
            </a:r>
            <a:pPr indent="0" marL="0">
              <a:buNone/>
            </a:pPr>
            <a:r>
              <a:rPr lang="en-US" sz="4200" i="1" spc="-100" kern="0" dirty="0">
                <a:solidFill>
                  <a:srgbClr val="E8B547"/>
                </a:solidFill>
                <a:latin typeface="Georgia" pitchFamily="34" charset="0"/>
                <a:ea typeface="Georgia" pitchFamily="34" charset="-122"/>
                <a:cs typeface="Georgia" pitchFamily="34" charset="-120"/>
              </a:rPr>
              <a:t>practise</a:t>
            </a:r>
            <a:pPr indent="0" marL="0">
              <a:buNone/>
            </a:pPr>
            <a:r>
              <a:rPr lang="en-US" sz="4200" spc="-100" kern="0" dirty="0">
                <a:solidFill>
                  <a:srgbClr val="EDEAE0"/>
                </a:solidFill>
                <a:latin typeface="Georgia" pitchFamily="34" charset="0"/>
                <a:ea typeface="Georgia" pitchFamily="34" charset="-122"/>
                <a:cs typeface="Georgia" pitchFamily="34" charset="-120"/>
              </a:rPr>
              <a:t> what it teaches?</a:t>
            </a:r>
            <a:endParaRPr lang="en-US" sz="4200" dirty="0"/>
          </a:p>
        </p:txBody>
      </p:sp>
      <p:sp>
        <p:nvSpPr>
          <p:cNvPr id="7" name="Text 5"/>
          <p:cNvSpPr/>
          <p:nvPr/>
        </p:nvSpPr>
        <p:spPr>
          <a:xfrm>
            <a:off x="640080" y="2377440"/>
            <a:ext cx="5486400" cy="274320"/>
          </a:xfrm>
          <a:prstGeom prst="rect">
            <a:avLst/>
          </a:prstGeom>
          <a:noFill/>
          <a:ln/>
        </p:spPr>
        <p:txBody>
          <a:bodyPr wrap="square" lIns="0" tIns="0" rIns="0" bIns="0" rtlCol="0" anchor="ctr"/>
          <a:lstStyle/>
          <a:p>
            <a:pPr indent="0" marL="0">
              <a:buNone/>
            </a:pPr>
            <a:r>
              <a:rPr lang="en-US" sz="1000" spc="400" kern="0" dirty="0">
                <a:solidFill>
                  <a:srgbClr val="5DBFA9"/>
                </a:solidFill>
                <a:latin typeface="Consolas" pitchFamily="34" charset="0"/>
                <a:ea typeface="Consolas" pitchFamily="34" charset="-122"/>
                <a:cs typeface="Consolas" pitchFamily="34" charset="-120"/>
              </a:rPr>
              <a:t>PRACTISES THE PRINCIPLES</a:t>
            </a:r>
            <a:endParaRPr lang="en-US" sz="1000" dirty="0"/>
          </a:p>
        </p:txBody>
      </p:sp>
      <p:sp>
        <p:nvSpPr>
          <p:cNvPr id="8" name="Text 6"/>
          <p:cNvSpPr/>
          <p:nvPr/>
        </p:nvSpPr>
        <p:spPr>
          <a:xfrm>
            <a:off x="640080" y="2743200"/>
            <a:ext cx="5486400" cy="3474720"/>
          </a:xfrm>
          <a:prstGeom prst="rect">
            <a:avLst/>
          </a:prstGeom>
          <a:noFill/>
          <a:ln/>
        </p:spPr>
        <p:txBody>
          <a:bodyPr wrap="square" lIns="0" tIns="0" rIns="0" bIns="0" rtlCol="0" anchor="ctr"/>
          <a:lstStyle/>
          <a:p>
            <a:pPr indent="0" marL="0">
              <a:spcAft>
                <a:spcPts val="800"/>
              </a:spcAft>
              <a:buNone/>
            </a:pPr>
            <a:r>
              <a:rPr lang="en-US" sz="1300" dirty="0">
                <a:solidFill>
                  <a:srgbClr val="EDEAE0"/>
                </a:solidFill>
                <a:latin typeface="Calibri" pitchFamily="34" charset="0"/>
                <a:ea typeface="Calibri" pitchFamily="34" charset="-122"/>
                <a:cs typeface="Calibri" pitchFamily="34" charset="-120"/>
              </a:rPr>
              <a:t>✓  Gestalt — sections + cards in one shape language</a:t>
            </a:r>
            <a:endParaRPr lang="en-US" sz="1300" dirty="0"/>
          </a:p>
          <a:p>
            <a:pPr indent="0" marL="0">
              <a:spcAft>
                <a:spcPts val="800"/>
              </a:spcAft>
              <a:buNone/>
            </a:pPr>
            <a:r>
              <a:rPr lang="en-US" sz="1300" dirty="0">
                <a:solidFill>
                  <a:srgbClr val="EDEAE0"/>
                </a:solidFill>
                <a:latin typeface="Calibri" pitchFamily="34" charset="0"/>
                <a:ea typeface="Calibri" pitchFamily="34" charset="-122"/>
                <a:cs typeface="Calibri" pitchFamily="34" charset="-120"/>
              </a:rPr>
              <a:t>✓  Recognition (H6) — KLM operator buttons show name + cost + example</a:t>
            </a:r>
            <a:endParaRPr lang="en-US" sz="1300" dirty="0"/>
          </a:p>
          <a:p>
            <a:pPr indent="0" marL="0">
              <a:spcAft>
                <a:spcPts val="800"/>
              </a:spcAft>
              <a:buNone/>
            </a:pPr>
            <a:r>
              <a:rPr lang="en-US" sz="1300" dirty="0">
                <a:solidFill>
                  <a:srgbClr val="EDEAE0"/>
                </a:solidFill>
                <a:latin typeface="Calibri" pitchFamily="34" charset="0"/>
                <a:ea typeface="Calibri" pitchFamily="34" charset="-122"/>
                <a:cs typeface="Calibri" pitchFamily="34" charset="-120"/>
              </a:rPr>
              <a:t>✓  Feedback — buttons hit-animate; tokens slide in; bar updates live</a:t>
            </a:r>
            <a:endParaRPr lang="en-US" sz="1300" dirty="0"/>
          </a:p>
          <a:p>
            <a:pPr indent="0" marL="0">
              <a:spcAft>
                <a:spcPts val="800"/>
              </a:spcAft>
              <a:buNone/>
            </a:pPr>
            <a:r>
              <a:rPr lang="en-US" sz="1300" dirty="0">
                <a:solidFill>
                  <a:srgbClr val="EDEAE0"/>
                </a:solidFill>
                <a:latin typeface="Calibri" pitchFamily="34" charset="0"/>
                <a:ea typeface="Calibri" pitchFamily="34" charset="-122"/>
                <a:cs typeface="Calibri" pitchFamily="34" charset="-120"/>
              </a:rPr>
              <a:t>✓  Minimalism (H8) — restrained palette; one demo per section</a:t>
            </a:r>
            <a:endParaRPr lang="en-US" sz="1300" dirty="0"/>
          </a:p>
          <a:p>
            <a:pPr indent="0" marL="0">
              <a:spcAft>
                <a:spcPts val="800"/>
              </a:spcAft>
              <a:buNone/>
            </a:pPr>
            <a:r>
              <a:rPr lang="en-US" sz="1300" dirty="0">
                <a:solidFill>
                  <a:srgbClr val="EDEAE0"/>
                </a:solidFill>
                <a:latin typeface="Calibri" pitchFamily="34" charset="0"/>
                <a:ea typeface="Calibri" pitchFamily="34" charset="-122"/>
                <a:cs typeface="Calibri" pitchFamily="34" charset="-120"/>
              </a:rPr>
              <a:t>✓  Help (H10) — every instrument has a one-line caption</a:t>
            </a:r>
            <a:endParaRPr lang="en-US" sz="1300" dirty="0"/>
          </a:p>
        </p:txBody>
      </p:sp>
      <p:sp>
        <p:nvSpPr>
          <p:cNvPr id="9" name="Text 7"/>
          <p:cNvSpPr/>
          <p:nvPr/>
        </p:nvSpPr>
        <p:spPr>
          <a:xfrm>
            <a:off x="6400800" y="2377440"/>
            <a:ext cx="5486400" cy="274320"/>
          </a:xfrm>
          <a:prstGeom prst="rect">
            <a:avLst/>
          </a:prstGeom>
          <a:noFill/>
          <a:ln/>
        </p:spPr>
        <p:txBody>
          <a:bodyPr wrap="square" lIns="0" tIns="0" rIns="0" bIns="0" rtlCol="0" anchor="ctr"/>
          <a:lstStyle/>
          <a:p>
            <a:pPr indent="0" marL="0">
              <a:buNone/>
            </a:pPr>
            <a:r>
              <a:rPr lang="en-US" sz="1000" spc="400" kern="0" dirty="0">
                <a:solidFill>
                  <a:srgbClr val="E97070"/>
                </a:solidFill>
                <a:latin typeface="Consolas" pitchFamily="34" charset="0"/>
                <a:ea typeface="Consolas" pitchFamily="34" charset="-122"/>
                <a:cs typeface="Consolas" pitchFamily="34" charset="-120"/>
              </a:rPr>
              <a:t>VIOLATES THEM</a:t>
            </a:r>
            <a:endParaRPr lang="en-US" sz="1000" dirty="0"/>
          </a:p>
        </p:txBody>
      </p:sp>
      <p:sp>
        <p:nvSpPr>
          <p:cNvPr id="10" name="Text 8"/>
          <p:cNvSpPr/>
          <p:nvPr/>
        </p:nvSpPr>
        <p:spPr>
          <a:xfrm>
            <a:off x="6400800" y="2743200"/>
            <a:ext cx="5486400" cy="3474720"/>
          </a:xfrm>
          <a:prstGeom prst="rect">
            <a:avLst/>
          </a:prstGeom>
          <a:noFill/>
          <a:ln/>
        </p:spPr>
        <p:txBody>
          <a:bodyPr wrap="square" lIns="0" tIns="0" rIns="0" bIns="0" rtlCol="0" anchor="ctr"/>
          <a:lstStyle/>
          <a:p>
            <a:pPr indent="0" marL="0">
              <a:spcAft>
                <a:spcPts val="800"/>
              </a:spcAft>
              <a:buNone/>
            </a:pPr>
            <a:r>
              <a:rPr lang="en-US" sz="1300" dirty="0">
                <a:solidFill>
                  <a:srgbClr val="EDEAE0"/>
                </a:solidFill>
                <a:latin typeface="Calibri" pitchFamily="34" charset="0"/>
                <a:ea typeface="Calibri" pitchFamily="34" charset="-122"/>
                <a:cs typeface="Calibri" pitchFamily="34" charset="-120"/>
              </a:rPr>
              <a:t>✗  Fitts — top nav was 8 cramped 11 px links in the corner</a:t>
            </a:r>
            <a:endParaRPr lang="en-US" sz="1300" dirty="0"/>
          </a:p>
          <a:p>
            <a:pPr indent="0" marL="0">
              <a:spcAft>
                <a:spcPts val="800"/>
              </a:spcAft>
              <a:buNone/>
            </a:pPr>
            <a:r>
              <a:rPr lang="en-US" sz="1300" dirty="0">
                <a:solidFill>
                  <a:srgbClr val="EDEAE0"/>
                </a:solidFill>
                <a:latin typeface="Calibri" pitchFamily="34" charset="0"/>
                <a:ea typeface="Calibri" pitchFamily="34" charset="-122"/>
                <a:cs typeface="Calibri" pitchFamily="34" charset="-120"/>
              </a:rPr>
              <a:t>✗  Hick — same nav: 8 flat choices with no grouping</a:t>
            </a:r>
            <a:endParaRPr lang="en-US" sz="1300" dirty="0"/>
          </a:p>
          <a:p>
            <a:pPr indent="0" marL="0">
              <a:spcAft>
                <a:spcPts val="800"/>
              </a:spcAft>
              <a:buNone/>
            </a:pPr>
            <a:r>
              <a:rPr lang="en-US" sz="1300" dirty="0">
                <a:solidFill>
                  <a:srgbClr val="EDEAE0"/>
                </a:solidFill>
                <a:latin typeface="Calibri" pitchFamily="34" charset="0"/>
                <a:ea typeface="Calibri" pitchFamily="34" charset="-122"/>
                <a:cs typeface="Calibri" pitchFamily="34" charset="-120"/>
              </a:rPr>
              <a:t>✗  Visibility (H1) — no active-section indicator on scroll</a:t>
            </a:r>
            <a:endParaRPr lang="en-US" sz="1300" dirty="0"/>
          </a:p>
          <a:p>
            <a:pPr indent="0" marL="0">
              <a:spcAft>
                <a:spcPts val="800"/>
              </a:spcAft>
              <a:buNone/>
            </a:pPr>
            <a:r>
              <a:rPr lang="en-US" sz="1300" dirty="0">
                <a:solidFill>
                  <a:srgbClr val="EDEAE0"/>
                </a:solidFill>
                <a:latin typeface="Calibri" pitchFamily="34" charset="0"/>
                <a:ea typeface="Calibri" pitchFamily="34" charset="-122"/>
                <a:cs typeface="Calibri" pitchFamily="34" charset="-120"/>
              </a:rPr>
              <a:t>✗  User control (H3) — Esc didn't close modals</a:t>
            </a:r>
            <a:endParaRPr lang="en-US" sz="1300" dirty="0"/>
          </a:p>
          <a:p>
            <a:pPr indent="0" marL="0">
              <a:spcAft>
                <a:spcPts val="800"/>
              </a:spcAft>
              <a:buNone/>
            </a:pPr>
            <a:r>
              <a:rPr lang="en-US" sz="1300" dirty="0">
                <a:solidFill>
                  <a:srgbClr val="EDEAE0"/>
                </a:solidFill>
                <a:latin typeface="Calibri" pitchFamily="34" charset="0"/>
                <a:ea typeface="Calibri" pitchFamily="34" charset="-122"/>
                <a:cs typeface="Calibri" pitchFamily="34" charset="-120"/>
              </a:rPr>
              <a:t>✗  Consistency (H4) — three numbering systems: §, FIG., H</a:t>
            </a:r>
            <a:endParaRPr lang="en-US" sz="1300" dirty="0"/>
          </a:p>
          <a:p>
            <a:pPr indent="0" marL="0">
              <a:spcAft>
                <a:spcPts val="800"/>
              </a:spcAft>
              <a:buNone/>
            </a:pPr>
            <a:r>
              <a:rPr lang="en-US" sz="1300" dirty="0">
                <a:solidFill>
                  <a:srgbClr val="EDEAE0"/>
                </a:solidFill>
                <a:latin typeface="Calibri" pitchFamily="34" charset="0"/>
                <a:ea typeface="Calibri" pitchFamily="34" charset="-122"/>
                <a:cs typeface="Calibri" pitchFamily="34" charset="-120"/>
              </a:rPr>
              <a:t>✗  WCAG — body text at 6.5:1 (failed AAA)</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16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FIVE FIXES</a:t>
            </a:r>
            <a:endParaRPr lang="en-US" sz="1000" dirty="0"/>
          </a:p>
        </p:txBody>
      </p:sp>
      <p:sp>
        <p:nvSpPr>
          <p:cNvPr id="6" name="Text 4"/>
          <p:cNvSpPr/>
          <p:nvPr/>
        </p:nvSpPr>
        <p:spPr>
          <a:xfrm>
            <a:off x="640080" y="868680"/>
            <a:ext cx="10972800" cy="1005840"/>
          </a:xfrm>
          <a:prstGeom prst="rect">
            <a:avLst/>
          </a:prstGeom>
          <a:noFill/>
          <a:ln/>
        </p:spPr>
        <p:txBody>
          <a:bodyPr wrap="square" lIns="0" tIns="0" rIns="0" bIns="0" rtlCol="0" anchor="ctr"/>
          <a:lstStyle/>
          <a:p>
            <a:pPr indent="0" marL="0">
              <a:buNone/>
            </a:pPr>
            <a:r>
              <a:rPr lang="en-US" sz="4200" spc="-100" kern="0" dirty="0">
                <a:solidFill>
                  <a:srgbClr val="EDEAE0"/>
                </a:solidFill>
                <a:latin typeface="Georgia" pitchFamily="34" charset="0"/>
                <a:ea typeface="Georgia" pitchFamily="34" charset="-122"/>
                <a:cs typeface="Georgia" pitchFamily="34" charset="-120"/>
              </a:rPr>
              <a:t>Then I </a:t>
            </a:r>
            <a:pPr indent="0" marL="0">
              <a:buNone/>
            </a:pPr>
            <a:r>
              <a:rPr lang="en-US" sz="4200" i="1" spc="-100" kern="0" dirty="0">
                <a:solidFill>
                  <a:srgbClr val="E8B547"/>
                </a:solidFill>
                <a:latin typeface="Georgia" pitchFamily="34" charset="0"/>
                <a:ea typeface="Georgia" pitchFamily="34" charset="-122"/>
                <a:cs typeface="Georgia" pitchFamily="34" charset="-120"/>
              </a:rPr>
              <a:t>fixed</a:t>
            </a:r>
            <a:pPr indent="0" marL="0">
              <a:buNone/>
            </a:pPr>
            <a:r>
              <a:rPr lang="en-US" sz="4200" spc="-100" kern="0" dirty="0">
                <a:solidFill>
                  <a:srgbClr val="EDEAE0"/>
                </a:solidFill>
                <a:latin typeface="Georgia" pitchFamily="34" charset="0"/>
                <a:ea typeface="Georgia" pitchFamily="34" charset="-122"/>
                <a:cs typeface="Georgia" pitchFamily="34" charset="-120"/>
              </a:rPr>
              <a:t> the lab.</a:t>
            </a:r>
            <a:endParaRPr lang="en-US" sz="4200" dirty="0"/>
          </a:p>
        </p:txBody>
      </p:sp>
      <p:pic>
        <p:nvPicPr>
          <p:cNvPr id="7" name="Image 0" descr="D:\hci\.shots\13-shortcuts.png">    </p:cNvPr>
          <p:cNvPicPr>
            <a:picLocks noChangeAspect="1"/>
          </p:cNvPicPr>
          <p:nvPr/>
        </p:nvPicPr>
        <p:blipFill>
          <a:blip r:embed="rId1"/>
          <a:stretch>
            <a:fillRect/>
          </a:stretch>
        </p:blipFill>
        <p:spPr>
          <a:xfrm>
            <a:off x="6858000" y="2286000"/>
            <a:ext cx="4937760" cy="2777490"/>
          </a:xfrm>
          <a:prstGeom prst="rect">
            <a:avLst/>
          </a:prstGeom>
        </p:spPr>
      </p:pic>
      <p:sp>
        <p:nvSpPr>
          <p:cNvPr id="8" name="Text 5"/>
          <p:cNvSpPr/>
          <p:nvPr/>
        </p:nvSpPr>
        <p:spPr>
          <a:xfrm>
            <a:off x="6858000" y="5109210"/>
            <a:ext cx="4937760" cy="274320"/>
          </a:xfrm>
          <a:prstGeom prst="rect">
            <a:avLst/>
          </a:prstGeom>
          <a:noFill/>
          <a:ln/>
        </p:spPr>
        <p:txBody>
          <a:bodyPr wrap="square" lIns="0" tIns="0" rIns="0" bIns="0" rtlCol="0" anchor="ctr"/>
          <a:lstStyle/>
          <a:p>
            <a:pPr algn="ctr" indent="0" marL="0">
              <a:buNone/>
            </a:pPr>
            <a:r>
              <a:rPr lang="en-US" sz="900" i="1" spc="100" kern="0" dirty="0">
                <a:solidFill>
                  <a:srgbClr val="BCB5A6"/>
                </a:solidFill>
                <a:latin typeface="Consolas" pitchFamily="34" charset="0"/>
                <a:ea typeface="Consolas" pitchFamily="34" charset="-122"/>
                <a:cs typeface="Consolas" pitchFamily="34" charset="-120"/>
              </a:rPr>
              <a:t>the new ?-keys overlay</a:t>
            </a:r>
            <a:endParaRPr lang="en-US" sz="900" dirty="0"/>
          </a:p>
        </p:txBody>
      </p:sp>
      <p:sp>
        <p:nvSpPr>
          <p:cNvPr id="9" name="Text 6"/>
          <p:cNvSpPr/>
          <p:nvPr/>
        </p:nvSpPr>
        <p:spPr>
          <a:xfrm>
            <a:off x="640080" y="2286000"/>
            <a:ext cx="457200" cy="320040"/>
          </a:xfrm>
          <a:prstGeom prst="rect">
            <a:avLst/>
          </a:prstGeom>
          <a:noFill/>
          <a:ln/>
        </p:spPr>
        <p:txBody>
          <a:bodyPr wrap="square" lIns="0" tIns="0" rIns="0" bIns="0" rtlCol="0" anchor="ctr"/>
          <a:lstStyle/>
          <a:p>
            <a:pPr indent="0" marL="0">
              <a:buNone/>
            </a:pPr>
            <a:r>
              <a:rPr lang="en-US" sz="1100" spc="200" kern="0" dirty="0">
                <a:solidFill>
                  <a:srgbClr val="E8B547"/>
                </a:solidFill>
                <a:latin typeface="Consolas" pitchFamily="34" charset="0"/>
                <a:ea typeface="Consolas" pitchFamily="34" charset="-122"/>
                <a:cs typeface="Consolas" pitchFamily="34" charset="-120"/>
              </a:rPr>
              <a:t>01</a:t>
            </a:r>
            <a:endParaRPr lang="en-US" sz="1100" dirty="0"/>
          </a:p>
        </p:txBody>
      </p:sp>
      <p:sp>
        <p:nvSpPr>
          <p:cNvPr id="10" name="Text 7"/>
          <p:cNvSpPr/>
          <p:nvPr/>
        </p:nvSpPr>
        <p:spPr>
          <a:xfrm>
            <a:off x="1097280" y="2286000"/>
            <a:ext cx="5212080" cy="274320"/>
          </a:xfrm>
          <a:prstGeom prst="rect">
            <a:avLst/>
          </a:prstGeom>
          <a:noFill/>
          <a:ln/>
        </p:spPr>
        <p:txBody>
          <a:bodyPr wrap="square" lIns="0" tIns="0" rIns="0" bIns="0" rtlCol="0" anchor="ctr"/>
          <a:lstStyle/>
          <a:p>
            <a:pPr indent="0" marL="0">
              <a:buNone/>
            </a:pPr>
            <a:r>
              <a:rPr lang="en-US" sz="1800" i="1" dirty="0">
                <a:solidFill>
                  <a:srgbClr val="EDEAE0"/>
                </a:solidFill>
                <a:latin typeface="Georgia" pitchFamily="34" charset="0"/>
                <a:ea typeface="Georgia" pitchFamily="34" charset="-122"/>
                <a:cs typeface="Georgia" pitchFamily="34" charset="-120"/>
              </a:rPr>
              <a:t>Grouped 4-bucket nav</a:t>
            </a:r>
            <a:endParaRPr lang="en-US" sz="1800" dirty="0"/>
          </a:p>
        </p:txBody>
      </p:sp>
      <p:sp>
        <p:nvSpPr>
          <p:cNvPr id="11" name="Text 8"/>
          <p:cNvSpPr/>
          <p:nvPr/>
        </p:nvSpPr>
        <p:spPr>
          <a:xfrm>
            <a:off x="1097280" y="2578608"/>
            <a:ext cx="5212080" cy="45720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Laws · Form · Process · Quality. Bigger hit targets, active-section highlight on scroll.</a:t>
            </a:r>
            <a:endParaRPr lang="en-US" sz="1100" dirty="0"/>
          </a:p>
        </p:txBody>
      </p:sp>
      <p:sp>
        <p:nvSpPr>
          <p:cNvPr id="12" name="Text 9"/>
          <p:cNvSpPr/>
          <p:nvPr/>
        </p:nvSpPr>
        <p:spPr>
          <a:xfrm>
            <a:off x="640080" y="3063240"/>
            <a:ext cx="457200" cy="320040"/>
          </a:xfrm>
          <a:prstGeom prst="rect">
            <a:avLst/>
          </a:prstGeom>
          <a:noFill/>
          <a:ln/>
        </p:spPr>
        <p:txBody>
          <a:bodyPr wrap="square" lIns="0" tIns="0" rIns="0" bIns="0" rtlCol="0" anchor="ctr"/>
          <a:lstStyle/>
          <a:p>
            <a:pPr indent="0" marL="0">
              <a:buNone/>
            </a:pPr>
            <a:r>
              <a:rPr lang="en-US" sz="1100" spc="200" kern="0" dirty="0">
                <a:solidFill>
                  <a:srgbClr val="E8B547"/>
                </a:solidFill>
                <a:latin typeface="Consolas" pitchFamily="34" charset="0"/>
                <a:ea typeface="Consolas" pitchFamily="34" charset="-122"/>
                <a:cs typeface="Consolas" pitchFamily="34" charset="-120"/>
              </a:rPr>
              <a:t>02</a:t>
            </a:r>
            <a:endParaRPr lang="en-US" sz="1100" dirty="0"/>
          </a:p>
        </p:txBody>
      </p:sp>
      <p:sp>
        <p:nvSpPr>
          <p:cNvPr id="13" name="Text 10"/>
          <p:cNvSpPr/>
          <p:nvPr/>
        </p:nvSpPr>
        <p:spPr>
          <a:xfrm>
            <a:off x="1097280" y="3063240"/>
            <a:ext cx="5212080" cy="274320"/>
          </a:xfrm>
          <a:prstGeom prst="rect">
            <a:avLst/>
          </a:prstGeom>
          <a:noFill/>
          <a:ln/>
        </p:spPr>
        <p:txBody>
          <a:bodyPr wrap="square" lIns="0" tIns="0" rIns="0" bIns="0" rtlCol="0" anchor="ctr"/>
          <a:lstStyle/>
          <a:p>
            <a:pPr indent="0" marL="0">
              <a:buNone/>
            </a:pPr>
            <a:r>
              <a:rPr lang="en-US" sz="1800" i="1" dirty="0">
                <a:solidFill>
                  <a:srgbClr val="EDEAE0"/>
                </a:solidFill>
                <a:latin typeface="Georgia" pitchFamily="34" charset="0"/>
                <a:ea typeface="Georgia" pitchFamily="34" charset="-122"/>
                <a:cs typeface="Georgia" pitchFamily="34" charset="-120"/>
              </a:rPr>
              <a:t>Keyboard shortcuts</a:t>
            </a:r>
            <a:endParaRPr lang="en-US" sz="1800" dirty="0"/>
          </a:p>
        </p:txBody>
      </p:sp>
      <p:sp>
        <p:nvSpPr>
          <p:cNvPr id="14" name="Text 11"/>
          <p:cNvSpPr/>
          <p:nvPr/>
        </p:nvSpPr>
        <p:spPr>
          <a:xfrm>
            <a:off x="1097280" y="3355848"/>
            <a:ext cx="5212080" cy="45720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Esc closes modals · ? opens overlay · g+letter jumps · t back to top.</a:t>
            </a:r>
            <a:endParaRPr lang="en-US" sz="1100" dirty="0"/>
          </a:p>
        </p:txBody>
      </p:sp>
      <p:sp>
        <p:nvSpPr>
          <p:cNvPr id="15" name="Text 12"/>
          <p:cNvSpPr/>
          <p:nvPr/>
        </p:nvSpPr>
        <p:spPr>
          <a:xfrm>
            <a:off x="640080" y="3840480"/>
            <a:ext cx="457200" cy="320040"/>
          </a:xfrm>
          <a:prstGeom prst="rect">
            <a:avLst/>
          </a:prstGeom>
          <a:noFill/>
          <a:ln/>
        </p:spPr>
        <p:txBody>
          <a:bodyPr wrap="square" lIns="0" tIns="0" rIns="0" bIns="0" rtlCol="0" anchor="ctr"/>
          <a:lstStyle/>
          <a:p>
            <a:pPr indent="0" marL="0">
              <a:buNone/>
            </a:pPr>
            <a:r>
              <a:rPr lang="en-US" sz="1100" spc="200" kern="0" dirty="0">
                <a:solidFill>
                  <a:srgbClr val="E8B547"/>
                </a:solidFill>
                <a:latin typeface="Consolas" pitchFamily="34" charset="0"/>
                <a:ea typeface="Consolas" pitchFamily="34" charset="-122"/>
                <a:cs typeface="Consolas" pitchFamily="34" charset="-120"/>
              </a:rPr>
              <a:t>03</a:t>
            </a:r>
            <a:endParaRPr lang="en-US" sz="1100" dirty="0"/>
          </a:p>
        </p:txBody>
      </p:sp>
      <p:sp>
        <p:nvSpPr>
          <p:cNvPr id="16" name="Text 13"/>
          <p:cNvSpPr/>
          <p:nvPr/>
        </p:nvSpPr>
        <p:spPr>
          <a:xfrm>
            <a:off x="1097280" y="3840480"/>
            <a:ext cx="5212080" cy="274320"/>
          </a:xfrm>
          <a:prstGeom prst="rect">
            <a:avLst/>
          </a:prstGeom>
          <a:noFill/>
          <a:ln/>
        </p:spPr>
        <p:txBody>
          <a:bodyPr wrap="square" lIns="0" tIns="0" rIns="0" bIns="0" rtlCol="0" anchor="ctr"/>
          <a:lstStyle/>
          <a:p>
            <a:pPr indent="0" marL="0">
              <a:buNone/>
            </a:pPr>
            <a:r>
              <a:rPr lang="en-US" sz="1800" i="1" dirty="0">
                <a:solidFill>
                  <a:srgbClr val="EDEAE0"/>
                </a:solidFill>
                <a:latin typeface="Georgia" pitchFamily="34" charset="0"/>
                <a:ea typeface="Georgia" pitchFamily="34" charset="-122"/>
                <a:cs typeface="Georgia" pitchFamily="34" charset="-120"/>
              </a:rPr>
              <a:t>Back-to-top button</a:t>
            </a:r>
            <a:endParaRPr lang="en-US" sz="1800" dirty="0"/>
          </a:p>
        </p:txBody>
      </p:sp>
      <p:sp>
        <p:nvSpPr>
          <p:cNvPr id="17" name="Text 14"/>
          <p:cNvSpPr/>
          <p:nvPr/>
        </p:nvSpPr>
        <p:spPr>
          <a:xfrm>
            <a:off x="1097280" y="4133088"/>
            <a:ext cx="5212080" cy="45720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Floating affordance after 700px scroll, with focus-visible state.</a:t>
            </a:r>
            <a:endParaRPr lang="en-US" sz="1100" dirty="0"/>
          </a:p>
        </p:txBody>
      </p:sp>
      <p:sp>
        <p:nvSpPr>
          <p:cNvPr id="18" name="Text 15"/>
          <p:cNvSpPr/>
          <p:nvPr/>
        </p:nvSpPr>
        <p:spPr>
          <a:xfrm>
            <a:off x="640080" y="4617720"/>
            <a:ext cx="457200" cy="320040"/>
          </a:xfrm>
          <a:prstGeom prst="rect">
            <a:avLst/>
          </a:prstGeom>
          <a:noFill/>
          <a:ln/>
        </p:spPr>
        <p:txBody>
          <a:bodyPr wrap="square" lIns="0" tIns="0" rIns="0" bIns="0" rtlCol="0" anchor="ctr"/>
          <a:lstStyle/>
          <a:p>
            <a:pPr indent="0" marL="0">
              <a:buNone/>
            </a:pPr>
            <a:r>
              <a:rPr lang="en-US" sz="1100" spc="200" kern="0" dirty="0">
                <a:solidFill>
                  <a:srgbClr val="E8B547"/>
                </a:solidFill>
                <a:latin typeface="Consolas" pitchFamily="34" charset="0"/>
                <a:ea typeface="Consolas" pitchFamily="34" charset="-122"/>
                <a:cs typeface="Consolas" pitchFamily="34" charset="-120"/>
              </a:rPr>
              <a:t>04</a:t>
            </a:r>
            <a:endParaRPr lang="en-US" sz="1100" dirty="0"/>
          </a:p>
        </p:txBody>
      </p:sp>
      <p:sp>
        <p:nvSpPr>
          <p:cNvPr id="19" name="Text 16"/>
          <p:cNvSpPr/>
          <p:nvPr/>
        </p:nvSpPr>
        <p:spPr>
          <a:xfrm>
            <a:off x="1097280" y="4617720"/>
            <a:ext cx="5212080" cy="274320"/>
          </a:xfrm>
          <a:prstGeom prst="rect">
            <a:avLst/>
          </a:prstGeom>
          <a:noFill/>
          <a:ln/>
        </p:spPr>
        <p:txBody>
          <a:bodyPr wrap="square" lIns="0" tIns="0" rIns="0" bIns="0" rtlCol="0" anchor="ctr"/>
          <a:lstStyle/>
          <a:p>
            <a:pPr indent="0" marL="0">
              <a:buNone/>
            </a:pPr>
            <a:r>
              <a:rPr lang="en-US" sz="1800" i="1" dirty="0">
                <a:solidFill>
                  <a:srgbClr val="EDEAE0"/>
                </a:solidFill>
                <a:latin typeface="Georgia" pitchFamily="34" charset="0"/>
                <a:ea typeface="Georgia" pitchFamily="34" charset="-122"/>
                <a:cs typeface="Georgia" pitchFamily="34" charset="-120"/>
              </a:rPr>
              <a:t>WCAG AAA contrast</a:t>
            </a:r>
            <a:endParaRPr lang="en-US" sz="1800" dirty="0"/>
          </a:p>
        </p:txBody>
      </p:sp>
      <p:sp>
        <p:nvSpPr>
          <p:cNvPr id="20" name="Text 17"/>
          <p:cNvSpPr/>
          <p:nvPr/>
        </p:nvSpPr>
        <p:spPr>
          <a:xfrm>
            <a:off x="1097280" y="4910328"/>
            <a:ext cx="5212080" cy="45720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paper-dim lightened #A39E92 → #BCB5A6.   6.5:1 → 9.6:1.</a:t>
            </a:r>
            <a:endParaRPr lang="en-US" sz="1100" dirty="0"/>
          </a:p>
        </p:txBody>
      </p:sp>
      <p:sp>
        <p:nvSpPr>
          <p:cNvPr id="21" name="Text 18"/>
          <p:cNvSpPr/>
          <p:nvPr/>
        </p:nvSpPr>
        <p:spPr>
          <a:xfrm>
            <a:off x="640080" y="5394960"/>
            <a:ext cx="457200" cy="320040"/>
          </a:xfrm>
          <a:prstGeom prst="rect">
            <a:avLst/>
          </a:prstGeom>
          <a:noFill/>
          <a:ln/>
        </p:spPr>
        <p:txBody>
          <a:bodyPr wrap="square" lIns="0" tIns="0" rIns="0" bIns="0" rtlCol="0" anchor="ctr"/>
          <a:lstStyle/>
          <a:p>
            <a:pPr indent="0" marL="0">
              <a:buNone/>
            </a:pPr>
            <a:r>
              <a:rPr lang="en-US" sz="1100" spc="200" kern="0" dirty="0">
                <a:solidFill>
                  <a:srgbClr val="E8B547"/>
                </a:solidFill>
                <a:latin typeface="Consolas" pitchFamily="34" charset="0"/>
                <a:ea typeface="Consolas" pitchFamily="34" charset="-122"/>
                <a:cs typeface="Consolas" pitchFamily="34" charset="-120"/>
              </a:rPr>
              <a:t>05</a:t>
            </a:r>
            <a:endParaRPr lang="en-US" sz="1100" dirty="0"/>
          </a:p>
        </p:txBody>
      </p:sp>
      <p:sp>
        <p:nvSpPr>
          <p:cNvPr id="22" name="Text 19"/>
          <p:cNvSpPr/>
          <p:nvPr/>
        </p:nvSpPr>
        <p:spPr>
          <a:xfrm>
            <a:off x="1097280" y="5394960"/>
            <a:ext cx="5212080" cy="274320"/>
          </a:xfrm>
          <a:prstGeom prst="rect">
            <a:avLst/>
          </a:prstGeom>
          <a:noFill/>
          <a:ln/>
        </p:spPr>
        <p:txBody>
          <a:bodyPr wrap="square" lIns="0" tIns="0" rIns="0" bIns="0" rtlCol="0" anchor="ctr"/>
          <a:lstStyle/>
          <a:p>
            <a:pPr indent="0" marL="0">
              <a:buNone/>
            </a:pPr>
            <a:r>
              <a:rPr lang="en-US" sz="1800" i="1" dirty="0">
                <a:solidFill>
                  <a:srgbClr val="EDEAE0"/>
                </a:solidFill>
                <a:latin typeface="Georgia" pitchFamily="34" charset="0"/>
                <a:ea typeface="Georgia" pitchFamily="34" charset="-122"/>
                <a:cs typeface="Georgia" pitchFamily="34" charset="-120"/>
              </a:rPr>
              <a:t>Unified numbering</a:t>
            </a:r>
            <a:endParaRPr lang="en-US" sz="1800" dirty="0"/>
          </a:p>
        </p:txBody>
      </p:sp>
      <p:sp>
        <p:nvSpPr>
          <p:cNvPr id="23" name="Text 20"/>
          <p:cNvSpPr/>
          <p:nvPr/>
        </p:nvSpPr>
        <p:spPr>
          <a:xfrm>
            <a:off x="1097280" y="5687568"/>
            <a:ext cx="5212080" cy="45720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One symbol throughout: § 01 sections · § 1.1 figures · § 5.01 heuristics.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17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BY THE NUMBERS</a:t>
            </a:r>
            <a:endParaRPr lang="en-US" sz="1000" dirty="0"/>
          </a:p>
        </p:txBody>
      </p:sp>
      <p:sp>
        <p:nvSpPr>
          <p:cNvPr id="6" name="Text 4"/>
          <p:cNvSpPr/>
          <p:nvPr/>
        </p:nvSpPr>
        <p:spPr>
          <a:xfrm>
            <a:off x="640080" y="868680"/>
            <a:ext cx="10972800" cy="2377440"/>
          </a:xfrm>
          <a:prstGeom prst="rect">
            <a:avLst/>
          </a:prstGeom>
          <a:noFill/>
          <a:ln/>
        </p:spPr>
        <p:txBody>
          <a:bodyPr wrap="square" lIns="0" tIns="0" rIns="0" bIns="0" rtlCol="0" anchor="ctr"/>
          <a:lstStyle/>
          <a:p>
            <a:pPr indent="0" marL="0">
              <a:buNone/>
            </a:pPr>
            <a:r>
              <a:rPr lang="en-US" sz="5600" spc="-100" kern="0" dirty="0">
                <a:solidFill>
                  <a:srgbClr val="EDEAE0"/>
                </a:solidFill>
                <a:latin typeface="Georgia" pitchFamily="34" charset="0"/>
                <a:ea typeface="Georgia" pitchFamily="34" charset="-122"/>
                <a:cs typeface="Georgia" pitchFamily="34" charset="-120"/>
              </a:rPr>
              <a:t>No frameworks.</a:t>
            </a:r>
            <a:endParaRPr lang="en-US" sz="5600" dirty="0"/>
          </a:p>
          <a:p>
            <a:pPr indent="0" marL="0">
              <a:buNone/>
            </a:pPr>
            <a:r>
              <a:rPr lang="en-US" sz="5600" spc="-100" kern="0" dirty="0">
                <a:solidFill>
                  <a:srgbClr val="EDEAE0"/>
                </a:solidFill>
                <a:latin typeface="Georgia" pitchFamily="34" charset="0"/>
                <a:ea typeface="Georgia" pitchFamily="34" charset="-122"/>
                <a:cs typeface="Georgia" pitchFamily="34" charset="-120"/>
              </a:rPr>
              <a:t>No build step.</a:t>
            </a:r>
            <a:endParaRPr lang="en-US" sz="5600" dirty="0"/>
          </a:p>
          <a:p>
            <a:pPr indent="0" marL="0">
              <a:buNone/>
            </a:pPr>
            <a:r>
              <a:rPr lang="en-US" sz="5600" i="1" spc="-100" kern="0" dirty="0">
                <a:solidFill>
                  <a:srgbClr val="E8B547"/>
                </a:solidFill>
                <a:latin typeface="Georgia" pitchFamily="34" charset="0"/>
                <a:ea typeface="Georgia" pitchFamily="34" charset="-122"/>
                <a:cs typeface="Georgia" pitchFamily="34" charset="-120"/>
              </a:rPr>
              <a:t>One file.</a:t>
            </a:r>
            <a:endParaRPr lang="en-US" sz="5600" dirty="0"/>
          </a:p>
        </p:txBody>
      </p:sp>
      <p:sp>
        <p:nvSpPr>
          <p:cNvPr id="7" name="Text 5"/>
          <p:cNvSpPr/>
          <p:nvPr/>
        </p:nvSpPr>
        <p:spPr>
          <a:xfrm>
            <a:off x="640080" y="4023360"/>
            <a:ext cx="3657600" cy="640080"/>
          </a:xfrm>
          <a:prstGeom prst="rect">
            <a:avLst/>
          </a:prstGeom>
          <a:noFill/>
          <a:ln/>
        </p:spPr>
        <p:txBody>
          <a:bodyPr wrap="square" lIns="0" tIns="0" rIns="0" bIns="0" rtlCol="0" anchor="ctr"/>
          <a:lstStyle/>
          <a:p>
            <a:pPr indent="0" marL="0">
              <a:buNone/>
            </a:pPr>
            <a:r>
              <a:rPr lang="en-US" sz="4400" i="1" spc="-100" kern="0" dirty="0">
                <a:solidFill>
                  <a:srgbClr val="E8B547"/>
                </a:solidFill>
                <a:latin typeface="Georgia" pitchFamily="34" charset="0"/>
                <a:ea typeface="Georgia" pitchFamily="34" charset="-122"/>
                <a:cs typeface="Georgia" pitchFamily="34" charset="-120"/>
              </a:rPr>
              <a:t>1</a:t>
            </a:r>
            <a:endParaRPr lang="en-US" sz="4400" dirty="0"/>
          </a:p>
        </p:txBody>
      </p:sp>
      <p:sp>
        <p:nvSpPr>
          <p:cNvPr id="8" name="Text 6"/>
          <p:cNvSpPr/>
          <p:nvPr/>
        </p:nvSpPr>
        <p:spPr>
          <a:xfrm>
            <a:off x="640080" y="4663440"/>
            <a:ext cx="3657600" cy="228600"/>
          </a:xfrm>
          <a:prstGeom prst="rect">
            <a:avLst/>
          </a:prstGeom>
          <a:noFill/>
          <a:ln/>
        </p:spPr>
        <p:txBody>
          <a:bodyPr wrap="square" lIns="0" tIns="0" rIns="0" bIns="0" rtlCol="0" anchor="ctr"/>
          <a:lstStyle/>
          <a:p>
            <a:pPr indent="0" marL="0">
              <a:buNone/>
            </a:pPr>
            <a:r>
              <a:rPr lang="en-US" sz="1000" spc="200" kern="0" dirty="0">
                <a:solidFill>
                  <a:srgbClr val="EDEAE0"/>
                </a:solidFill>
                <a:latin typeface="Consolas" pitchFamily="34" charset="0"/>
                <a:ea typeface="Consolas" pitchFamily="34" charset="-122"/>
                <a:cs typeface="Consolas" pitchFamily="34" charset="-120"/>
              </a:rPr>
              <a:t>index.html</a:t>
            </a:r>
            <a:endParaRPr lang="en-US" sz="1000" dirty="0"/>
          </a:p>
        </p:txBody>
      </p:sp>
      <p:sp>
        <p:nvSpPr>
          <p:cNvPr id="9" name="Text 7"/>
          <p:cNvSpPr/>
          <p:nvPr/>
        </p:nvSpPr>
        <p:spPr>
          <a:xfrm>
            <a:off x="640080" y="4892040"/>
            <a:ext cx="3657600" cy="274320"/>
          </a:xfrm>
          <a:prstGeom prst="rect">
            <a:avLst/>
          </a:prstGeom>
          <a:noFill/>
          <a:ln/>
        </p:spPr>
        <p:txBody>
          <a:bodyPr wrap="square" lIns="0" tIns="0" rIns="0" bIns="0" rtlCol="0" anchor="ctr"/>
          <a:lstStyle/>
          <a:p>
            <a:pPr indent="0" marL="0">
              <a:buNone/>
            </a:pPr>
            <a:r>
              <a:rPr lang="en-US" sz="1100" i="1" dirty="0">
                <a:solidFill>
                  <a:srgbClr val="BCB5A6"/>
                </a:solidFill>
                <a:latin typeface="Calibri" pitchFamily="34" charset="0"/>
                <a:ea typeface="Calibri" pitchFamily="34" charset="-122"/>
                <a:cs typeface="Calibri" pitchFamily="34" charset="-120"/>
              </a:rPr>
              <a:t>self-contained</a:t>
            </a:r>
            <a:endParaRPr lang="en-US" sz="1100" dirty="0"/>
          </a:p>
        </p:txBody>
      </p:sp>
      <p:sp>
        <p:nvSpPr>
          <p:cNvPr id="10" name="Text 8"/>
          <p:cNvSpPr/>
          <p:nvPr/>
        </p:nvSpPr>
        <p:spPr>
          <a:xfrm>
            <a:off x="4480560" y="4023360"/>
            <a:ext cx="3657600" cy="640080"/>
          </a:xfrm>
          <a:prstGeom prst="rect">
            <a:avLst/>
          </a:prstGeom>
          <a:noFill/>
          <a:ln/>
        </p:spPr>
        <p:txBody>
          <a:bodyPr wrap="square" lIns="0" tIns="0" rIns="0" bIns="0" rtlCol="0" anchor="ctr"/>
          <a:lstStyle/>
          <a:p>
            <a:pPr indent="0" marL="0">
              <a:buNone/>
            </a:pPr>
            <a:r>
              <a:rPr lang="en-US" sz="4400" i="1" spc="-100" kern="0" dirty="0">
                <a:solidFill>
                  <a:srgbClr val="E8B547"/>
                </a:solidFill>
                <a:latin typeface="Georgia" pitchFamily="34" charset="0"/>
                <a:ea typeface="Georgia" pitchFamily="34" charset="-122"/>
                <a:cs typeface="Georgia" pitchFamily="34" charset="-120"/>
              </a:rPr>
              <a:t>~70KB</a:t>
            </a:r>
            <a:endParaRPr lang="en-US" sz="4400" dirty="0"/>
          </a:p>
        </p:txBody>
      </p:sp>
      <p:sp>
        <p:nvSpPr>
          <p:cNvPr id="11" name="Text 9"/>
          <p:cNvSpPr/>
          <p:nvPr/>
        </p:nvSpPr>
        <p:spPr>
          <a:xfrm>
            <a:off x="4480560" y="4663440"/>
            <a:ext cx="3657600" cy="228600"/>
          </a:xfrm>
          <a:prstGeom prst="rect">
            <a:avLst/>
          </a:prstGeom>
          <a:noFill/>
          <a:ln/>
        </p:spPr>
        <p:txBody>
          <a:bodyPr wrap="square" lIns="0" tIns="0" rIns="0" bIns="0" rtlCol="0" anchor="ctr"/>
          <a:lstStyle/>
          <a:p>
            <a:pPr indent="0" marL="0">
              <a:buNone/>
            </a:pPr>
            <a:r>
              <a:rPr lang="en-US" sz="1000" spc="200" kern="0" dirty="0">
                <a:solidFill>
                  <a:srgbClr val="EDEAE0"/>
                </a:solidFill>
                <a:latin typeface="Consolas" pitchFamily="34" charset="0"/>
                <a:ea typeface="Consolas" pitchFamily="34" charset="-122"/>
                <a:cs typeface="Consolas" pitchFamily="34" charset="-120"/>
              </a:rPr>
              <a:t>total weight</a:t>
            </a:r>
            <a:endParaRPr lang="en-US" sz="1000" dirty="0"/>
          </a:p>
        </p:txBody>
      </p:sp>
      <p:sp>
        <p:nvSpPr>
          <p:cNvPr id="12" name="Text 10"/>
          <p:cNvSpPr/>
          <p:nvPr/>
        </p:nvSpPr>
        <p:spPr>
          <a:xfrm>
            <a:off x="4480560" y="4892040"/>
            <a:ext cx="3657600" cy="274320"/>
          </a:xfrm>
          <a:prstGeom prst="rect">
            <a:avLst/>
          </a:prstGeom>
          <a:noFill/>
          <a:ln/>
        </p:spPr>
        <p:txBody>
          <a:bodyPr wrap="square" lIns="0" tIns="0" rIns="0" bIns="0" rtlCol="0" anchor="ctr"/>
          <a:lstStyle/>
          <a:p>
            <a:pPr indent="0" marL="0">
              <a:buNone/>
            </a:pPr>
            <a:r>
              <a:rPr lang="en-US" sz="1100" i="1" dirty="0">
                <a:solidFill>
                  <a:srgbClr val="BCB5A6"/>
                </a:solidFill>
                <a:latin typeface="Calibri" pitchFamily="34" charset="0"/>
                <a:ea typeface="Calibri" pitchFamily="34" charset="-122"/>
                <a:cs typeface="Calibri" pitchFamily="34" charset="-120"/>
              </a:rPr>
              <a:t>unminified</a:t>
            </a:r>
            <a:endParaRPr lang="en-US" sz="1100" dirty="0"/>
          </a:p>
        </p:txBody>
      </p:sp>
      <p:sp>
        <p:nvSpPr>
          <p:cNvPr id="13" name="Text 11"/>
          <p:cNvSpPr/>
          <p:nvPr/>
        </p:nvSpPr>
        <p:spPr>
          <a:xfrm>
            <a:off x="8321040" y="4023360"/>
            <a:ext cx="3657600" cy="640080"/>
          </a:xfrm>
          <a:prstGeom prst="rect">
            <a:avLst/>
          </a:prstGeom>
          <a:noFill/>
          <a:ln/>
        </p:spPr>
        <p:txBody>
          <a:bodyPr wrap="square" lIns="0" tIns="0" rIns="0" bIns="0" rtlCol="0" anchor="ctr"/>
          <a:lstStyle/>
          <a:p>
            <a:pPr indent="0" marL="0">
              <a:buNone/>
            </a:pPr>
            <a:r>
              <a:rPr lang="en-US" sz="4400" i="1" spc="-100" kern="0" dirty="0">
                <a:solidFill>
                  <a:srgbClr val="E8B547"/>
                </a:solidFill>
                <a:latin typeface="Georgia" pitchFamily="34" charset="0"/>
                <a:ea typeface="Georgia" pitchFamily="34" charset="-122"/>
                <a:cs typeface="Georgia" pitchFamily="34" charset="-120"/>
              </a:rPr>
              <a:t>0</a:t>
            </a:r>
            <a:endParaRPr lang="en-US" sz="4400" dirty="0"/>
          </a:p>
        </p:txBody>
      </p:sp>
      <p:sp>
        <p:nvSpPr>
          <p:cNvPr id="14" name="Text 12"/>
          <p:cNvSpPr/>
          <p:nvPr/>
        </p:nvSpPr>
        <p:spPr>
          <a:xfrm>
            <a:off x="8321040" y="4663440"/>
            <a:ext cx="3657600" cy="228600"/>
          </a:xfrm>
          <a:prstGeom prst="rect">
            <a:avLst/>
          </a:prstGeom>
          <a:noFill/>
          <a:ln/>
        </p:spPr>
        <p:txBody>
          <a:bodyPr wrap="square" lIns="0" tIns="0" rIns="0" bIns="0" rtlCol="0" anchor="ctr"/>
          <a:lstStyle/>
          <a:p>
            <a:pPr indent="0" marL="0">
              <a:buNone/>
            </a:pPr>
            <a:r>
              <a:rPr lang="en-US" sz="1000" spc="200" kern="0" dirty="0">
                <a:solidFill>
                  <a:srgbClr val="EDEAE0"/>
                </a:solidFill>
                <a:latin typeface="Consolas" pitchFamily="34" charset="0"/>
                <a:ea typeface="Consolas" pitchFamily="34" charset="-122"/>
                <a:cs typeface="Consolas" pitchFamily="34" charset="-120"/>
              </a:rPr>
              <a:t>dependencies</a:t>
            </a:r>
            <a:endParaRPr lang="en-US" sz="1000" dirty="0"/>
          </a:p>
        </p:txBody>
      </p:sp>
      <p:sp>
        <p:nvSpPr>
          <p:cNvPr id="15" name="Text 13"/>
          <p:cNvSpPr/>
          <p:nvPr/>
        </p:nvSpPr>
        <p:spPr>
          <a:xfrm>
            <a:off x="8321040" y="4892040"/>
            <a:ext cx="3657600" cy="274320"/>
          </a:xfrm>
          <a:prstGeom prst="rect">
            <a:avLst/>
          </a:prstGeom>
          <a:noFill/>
          <a:ln/>
        </p:spPr>
        <p:txBody>
          <a:bodyPr wrap="square" lIns="0" tIns="0" rIns="0" bIns="0" rtlCol="0" anchor="ctr"/>
          <a:lstStyle/>
          <a:p>
            <a:pPr indent="0" marL="0">
              <a:buNone/>
            </a:pPr>
            <a:r>
              <a:rPr lang="en-US" sz="1100" i="1" dirty="0">
                <a:solidFill>
                  <a:srgbClr val="BCB5A6"/>
                </a:solidFill>
                <a:latin typeface="Calibri" pitchFamily="34" charset="0"/>
                <a:ea typeface="Calibri" pitchFamily="34" charset="-122"/>
                <a:cs typeface="Calibri" pitchFamily="34" charset="-120"/>
              </a:rPr>
              <a:t>no jQuery, no React</a:t>
            </a:r>
            <a:endParaRPr lang="en-US" sz="1100" dirty="0"/>
          </a:p>
        </p:txBody>
      </p:sp>
      <p:sp>
        <p:nvSpPr>
          <p:cNvPr id="16" name="Text 14"/>
          <p:cNvSpPr/>
          <p:nvPr/>
        </p:nvSpPr>
        <p:spPr>
          <a:xfrm>
            <a:off x="640080" y="5349240"/>
            <a:ext cx="3657600" cy="640080"/>
          </a:xfrm>
          <a:prstGeom prst="rect">
            <a:avLst/>
          </a:prstGeom>
          <a:noFill/>
          <a:ln/>
        </p:spPr>
        <p:txBody>
          <a:bodyPr wrap="square" lIns="0" tIns="0" rIns="0" bIns="0" rtlCol="0" anchor="ctr"/>
          <a:lstStyle/>
          <a:p>
            <a:pPr indent="0" marL="0">
              <a:buNone/>
            </a:pPr>
            <a:r>
              <a:rPr lang="en-US" sz="4400" i="1" spc="-100" kern="0" dirty="0">
                <a:solidFill>
                  <a:srgbClr val="E8B547"/>
                </a:solidFill>
                <a:latin typeface="Georgia" pitchFamily="34" charset="0"/>
                <a:ea typeface="Georgia" pitchFamily="34" charset="-122"/>
                <a:cs typeface="Georgia" pitchFamily="34" charset="-120"/>
              </a:rPr>
              <a:t>8</a:t>
            </a:r>
            <a:endParaRPr lang="en-US" sz="4400" dirty="0"/>
          </a:p>
        </p:txBody>
      </p:sp>
      <p:sp>
        <p:nvSpPr>
          <p:cNvPr id="17" name="Text 15"/>
          <p:cNvSpPr/>
          <p:nvPr/>
        </p:nvSpPr>
        <p:spPr>
          <a:xfrm>
            <a:off x="640080" y="5989320"/>
            <a:ext cx="3657600" cy="228600"/>
          </a:xfrm>
          <a:prstGeom prst="rect">
            <a:avLst/>
          </a:prstGeom>
          <a:noFill/>
          <a:ln/>
        </p:spPr>
        <p:txBody>
          <a:bodyPr wrap="square" lIns="0" tIns="0" rIns="0" bIns="0" rtlCol="0" anchor="ctr"/>
          <a:lstStyle/>
          <a:p>
            <a:pPr indent="0" marL="0">
              <a:buNone/>
            </a:pPr>
            <a:r>
              <a:rPr lang="en-US" sz="1000" spc="200" kern="0" dirty="0">
                <a:solidFill>
                  <a:srgbClr val="EDEAE0"/>
                </a:solidFill>
                <a:latin typeface="Consolas" pitchFamily="34" charset="0"/>
                <a:ea typeface="Consolas" pitchFamily="34" charset="-122"/>
                <a:cs typeface="Consolas" pitchFamily="34" charset="-120"/>
              </a:rPr>
              <a:t>instruments</a:t>
            </a:r>
            <a:endParaRPr lang="en-US" sz="1000" dirty="0"/>
          </a:p>
        </p:txBody>
      </p:sp>
      <p:sp>
        <p:nvSpPr>
          <p:cNvPr id="18" name="Text 16"/>
          <p:cNvSpPr/>
          <p:nvPr/>
        </p:nvSpPr>
        <p:spPr>
          <a:xfrm>
            <a:off x="640080" y="6217920"/>
            <a:ext cx="3657600" cy="274320"/>
          </a:xfrm>
          <a:prstGeom prst="rect">
            <a:avLst/>
          </a:prstGeom>
          <a:noFill/>
          <a:ln/>
        </p:spPr>
        <p:txBody>
          <a:bodyPr wrap="square" lIns="0" tIns="0" rIns="0" bIns="0" rtlCol="0" anchor="ctr"/>
          <a:lstStyle/>
          <a:p>
            <a:pPr indent="0" marL="0">
              <a:buNone/>
            </a:pPr>
            <a:r>
              <a:rPr lang="en-US" sz="1100" i="1" dirty="0">
                <a:solidFill>
                  <a:srgbClr val="BCB5A6"/>
                </a:solidFill>
                <a:latin typeface="Calibri" pitchFamily="34" charset="0"/>
                <a:ea typeface="Calibri" pitchFamily="34" charset="-122"/>
                <a:cs typeface="Calibri" pitchFamily="34" charset="-120"/>
              </a:rPr>
              <a:t>one per principle</a:t>
            </a:r>
            <a:endParaRPr lang="en-US" sz="1100" dirty="0"/>
          </a:p>
        </p:txBody>
      </p:sp>
      <p:sp>
        <p:nvSpPr>
          <p:cNvPr id="19" name="Text 17"/>
          <p:cNvSpPr/>
          <p:nvPr/>
        </p:nvSpPr>
        <p:spPr>
          <a:xfrm>
            <a:off x="4480560" y="5349240"/>
            <a:ext cx="3657600" cy="640080"/>
          </a:xfrm>
          <a:prstGeom prst="rect">
            <a:avLst/>
          </a:prstGeom>
          <a:noFill/>
          <a:ln/>
        </p:spPr>
        <p:txBody>
          <a:bodyPr wrap="square" lIns="0" tIns="0" rIns="0" bIns="0" rtlCol="0" anchor="ctr"/>
          <a:lstStyle/>
          <a:p>
            <a:pPr indent="0" marL="0">
              <a:buNone/>
            </a:pPr>
            <a:r>
              <a:rPr lang="en-US" sz="4400" i="1" spc="-100" kern="0" dirty="0">
                <a:solidFill>
                  <a:srgbClr val="E8B547"/>
                </a:solidFill>
                <a:latin typeface="Georgia" pitchFamily="34" charset="0"/>
                <a:ea typeface="Georgia" pitchFamily="34" charset="-122"/>
                <a:cs typeface="Georgia" pitchFamily="34" charset="-120"/>
              </a:rPr>
              <a:t>20</a:t>
            </a:r>
            <a:endParaRPr lang="en-US" sz="4400" dirty="0"/>
          </a:p>
        </p:txBody>
      </p:sp>
      <p:sp>
        <p:nvSpPr>
          <p:cNvPr id="20" name="Text 18"/>
          <p:cNvSpPr/>
          <p:nvPr/>
        </p:nvSpPr>
        <p:spPr>
          <a:xfrm>
            <a:off x="4480560" y="5989320"/>
            <a:ext cx="3657600" cy="228600"/>
          </a:xfrm>
          <a:prstGeom prst="rect">
            <a:avLst/>
          </a:prstGeom>
          <a:noFill/>
          <a:ln/>
        </p:spPr>
        <p:txBody>
          <a:bodyPr wrap="square" lIns="0" tIns="0" rIns="0" bIns="0" rtlCol="0" anchor="ctr"/>
          <a:lstStyle/>
          <a:p>
            <a:pPr indent="0" marL="0">
              <a:buNone/>
            </a:pPr>
            <a:r>
              <a:rPr lang="en-US" sz="1000" spc="200" kern="0" dirty="0">
                <a:solidFill>
                  <a:srgbClr val="EDEAE0"/>
                </a:solidFill>
                <a:latin typeface="Consolas" pitchFamily="34" charset="0"/>
                <a:ea typeface="Consolas" pitchFamily="34" charset="-122"/>
                <a:cs typeface="Consolas" pitchFamily="34" charset="-120"/>
              </a:rPr>
              <a:t>mini mockups</a:t>
            </a:r>
            <a:endParaRPr lang="en-US" sz="1000" dirty="0"/>
          </a:p>
        </p:txBody>
      </p:sp>
      <p:sp>
        <p:nvSpPr>
          <p:cNvPr id="21" name="Text 19"/>
          <p:cNvSpPr/>
          <p:nvPr/>
        </p:nvSpPr>
        <p:spPr>
          <a:xfrm>
            <a:off x="4480560" y="6217920"/>
            <a:ext cx="3657600" cy="274320"/>
          </a:xfrm>
          <a:prstGeom prst="rect">
            <a:avLst/>
          </a:prstGeom>
          <a:noFill/>
          <a:ln/>
        </p:spPr>
        <p:txBody>
          <a:bodyPr wrap="square" lIns="0" tIns="0" rIns="0" bIns="0" rtlCol="0" anchor="ctr"/>
          <a:lstStyle/>
          <a:p>
            <a:pPr indent="0" marL="0">
              <a:buNone/>
            </a:pPr>
            <a:r>
              <a:rPr lang="en-US" sz="1100" i="1" dirty="0">
                <a:solidFill>
                  <a:srgbClr val="BCB5A6"/>
                </a:solidFill>
                <a:latin typeface="Calibri" pitchFamily="34" charset="0"/>
                <a:ea typeface="Calibri" pitchFamily="34" charset="-122"/>
                <a:cs typeface="Calibri" pitchFamily="34" charset="-120"/>
              </a:rPr>
              <a:t>two per heuristic</a:t>
            </a:r>
            <a:endParaRPr lang="en-US" sz="1100" dirty="0"/>
          </a:p>
        </p:txBody>
      </p:sp>
      <p:sp>
        <p:nvSpPr>
          <p:cNvPr id="22" name="Text 20"/>
          <p:cNvSpPr/>
          <p:nvPr/>
        </p:nvSpPr>
        <p:spPr>
          <a:xfrm>
            <a:off x="8321040" y="5349240"/>
            <a:ext cx="3657600" cy="640080"/>
          </a:xfrm>
          <a:prstGeom prst="rect">
            <a:avLst/>
          </a:prstGeom>
          <a:noFill/>
          <a:ln/>
        </p:spPr>
        <p:txBody>
          <a:bodyPr wrap="square" lIns="0" tIns="0" rIns="0" bIns="0" rtlCol="0" anchor="ctr"/>
          <a:lstStyle/>
          <a:p>
            <a:pPr indent="0" marL="0">
              <a:buNone/>
            </a:pPr>
            <a:r>
              <a:rPr lang="en-US" sz="4400" i="1" spc="-100" kern="0" dirty="0">
                <a:solidFill>
                  <a:srgbClr val="E8B547"/>
                </a:solidFill>
                <a:latin typeface="Georgia" pitchFamily="34" charset="0"/>
                <a:ea typeface="Georgia" pitchFamily="34" charset="-122"/>
                <a:cs typeface="Georgia" pitchFamily="34" charset="-120"/>
              </a:rPr>
              <a:t>9.6:1</a:t>
            </a:r>
            <a:endParaRPr lang="en-US" sz="4400" dirty="0"/>
          </a:p>
        </p:txBody>
      </p:sp>
      <p:sp>
        <p:nvSpPr>
          <p:cNvPr id="23" name="Text 21"/>
          <p:cNvSpPr/>
          <p:nvPr/>
        </p:nvSpPr>
        <p:spPr>
          <a:xfrm>
            <a:off x="8321040" y="5989320"/>
            <a:ext cx="3657600" cy="228600"/>
          </a:xfrm>
          <a:prstGeom prst="rect">
            <a:avLst/>
          </a:prstGeom>
          <a:noFill/>
          <a:ln/>
        </p:spPr>
        <p:txBody>
          <a:bodyPr wrap="square" lIns="0" tIns="0" rIns="0" bIns="0" rtlCol="0" anchor="ctr"/>
          <a:lstStyle/>
          <a:p>
            <a:pPr indent="0" marL="0">
              <a:buNone/>
            </a:pPr>
            <a:r>
              <a:rPr lang="en-US" sz="1000" spc="200" kern="0" dirty="0">
                <a:solidFill>
                  <a:srgbClr val="EDEAE0"/>
                </a:solidFill>
                <a:latin typeface="Consolas" pitchFamily="34" charset="0"/>
                <a:ea typeface="Consolas" pitchFamily="34" charset="-122"/>
                <a:cs typeface="Consolas" pitchFamily="34" charset="-120"/>
              </a:rPr>
              <a:t>body contrast</a:t>
            </a:r>
            <a:endParaRPr lang="en-US" sz="1000" dirty="0"/>
          </a:p>
        </p:txBody>
      </p:sp>
      <p:sp>
        <p:nvSpPr>
          <p:cNvPr id="24" name="Text 22"/>
          <p:cNvSpPr/>
          <p:nvPr/>
        </p:nvSpPr>
        <p:spPr>
          <a:xfrm>
            <a:off x="8321040" y="6217920"/>
            <a:ext cx="3657600" cy="274320"/>
          </a:xfrm>
          <a:prstGeom prst="rect">
            <a:avLst/>
          </a:prstGeom>
          <a:noFill/>
          <a:ln/>
        </p:spPr>
        <p:txBody>
          <a:bodyPr wrap="square" lIns="0" tIns="0" rIns="0" bIns="0" rtlCol="0" anchor="ctr"/>
          <a:lstStyle/>
          <a:p>
            <a:pPr indent="0" marL="0">
              <a:buNone/>
            </a:pPr>
            <a:r>
              <a:rPr lang="en-US" sz="1100" i="1" dirty="0">
                <a:solidFill>
                  <a:srgbClr val="BCB5A6"/>
                </a:solidFill>
                <a:latin typeface="Calibri" pitchFamily="34" charset="0"/>
                <a:ea typeface="Calibri" pitchFamily="34" charset="-122"/>
                <a:cs typeface="Calibri" pitchFamily="34" charset="-120"/>
              </a:rPr>
              <a:t>WCAG AAA</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45720"/>
            <a:ext cx="12161520" cy="45720"/>
          </a:xfrm>
          <a:prstGeom prst="rect">
            <a:avLst/>
          </a:prstGeom>
          <a:solidFill>
            <a:srgbClr val="E8B547"/>
          </a:solidFill>
          <a:ln/>
        </p:spPr>
      </p:sp>
      <p:sp>
        <p:nvSpPr>
          <p:cNvPr id="3" name="Shape 1"/>
          <p:cNvSpPr/>
          <p:nvPr/>
        </p:nvSpPr>
        <p:spPr>
          <a:xfrm>
            <a:off x="0" y="6766560"/>
            <a:ext cx="12161520" cy="45720"/>
          </a:xfrm>
          <a:prstGeom prst="rect">
            <a:avLst/>
          </a:prstGeom>
          <a:solidFill>
            <a:srgbClr val="E8B547"/>
          </a:solidFill>
          <a:ln/>
        </p:spPr>
      </p:sp>
      <p:sp>
        <p:nvSpPr>
          <p:cNvPr id="4" name="Text 2"/>
          <p:cNvSpPr/>
          <p:nvPr/>
        </p:nvSpPr>
        <p:spPr>
          <a:xfrm>
            <a:off x="640080" y="548640"/>
            <a:ext cx="10972800" cy="365760"/>
          </a:xfrm>
          <a:prstGeom prst="rect">
            <a:avLst/>
          </a:prstGeom>
          <a:noFill/>
          <a:ln/>
        </p:spPr>
        <p:txBody>
          <a:bodyPr wrap="square" lIns="0" tIns="0" rIns="0" bIns="0" rtlCol="0" anchor="ctr"/>
          <a:lstStyle/>
          <a:p>
            <a:pPr indent="0" marL="0">
              <a:buNone/>
            </a:pPr>
            <a:r>
              <a:rPr lang="en-US" sz="1100" spc="500" kern="0" dirty="0">
                <a:solidFill>
                  <a:srgbClr val="BCB5A6"/>
                </a:solidFill>
                <a:latin typeface="Consolas" pitchFamily="34" charset="0"/>
                <a:ea typeface="Consolas" pitchFamily="34" charset="-122"/>
                <a:cs typeface="Consolas" pitchFamily="34" charset="-120"/>
              </a:rPr>
              <a:t>FIELD LAB · LIVE</a:t>
            </a:r>
            <a:endParaRPr lang="en-US" sz="1100" dirty="0"/>
          </a:p>
        </p:txBody>
      </p:sp>
      <p:sp>
        <p:nvSpPr>
          <p:cNvPr id="5" name="Text 3"/>
          <p:cNvSpPr/>
          <p:nvPr/>
        </p:nvSpPr>
        <p:spPr>
          <a:xfrm>
            <a:off x="640080" y="1554480"/>
            <a:ext cx="10972800" cy="1463040"/>
          </a:xfrm>
          <a:prstGeom prst="rect">
            <a:avLst/>
          </a:prstGeom>
          <a:noFill/>
          <a:ln/>
        </p:spPr>
        <p:txBody>
          <a:bodyPr wrap="square" lIns="0" tIns="0" rIns="0" bIns="0" rtlCol="0" anchor="ctr"/>
          <a:lstStyle/>
          <a:p>
            <a:pPr indent="0" marL="0">
              <a:buNone/>
            </a:pPr>
            <a:r>
              <a:rPr lang="en-US" sz="8800" spc="-200" kern="0" dirty="0">
                <a:solidFill>
                  <a:srgbClr val="EDEAE0"/>
                </a:solidFill>
                <a:latin typeface="Georgia" pitchFamily="34" charset="0"/>
                <a:ea typeface="Georgia" pitchFamily="34" charset="-122"/>
                <a:cs typeface="Georgia" pitchFamily="34" charset="-120"/>
              </a:rPr>
              <a:t>Visit </a:t>
            </a:r>
            <a:pPr indent="0" marL="0">
              <a:buNone/>
            </a:pPr>
            <a:r>
              <a:rPr lang="en-US" sz="8800" i="1" spc="-200" kern="0" dirty="0">
                <a:solidFill>
                  <a:srgbClr val="E8B547"/>
                </a:solidFill>
                <a:latin typeface="Georgia" pitchFamily="34" charset="0"/>
                <a:ea typeface="Georgia" pitchFamily="34" charset="-122"/>
                <a:cs typeface="Georgia" pitchFamily="34" charset="-120"/>
              </a:rPr>
              <a:t>the lab</a:t>
            </a:r>
            <a:pPr indent="0" marL="0">
              <a:buNone/>
            </a:pPr>
            <a:r>
              <a:rPr lang="en-US" sz="8800" spc="-200" kern="0" dirty="0">
                <a:solidFill>
                  <a:srgbClr val="EDEAE0"/>
                </a:solidFill>
                <a:latin typeface="Georgia" pitchFamily="34" charset="0"/>
                <a:ea typeface="Georgia" pitchFamily="34" charset="-122"/>
                <a:cs typeface="Georgia" pitchFamily="34" charset="-120"/>
              </a:rPr>
              <a:t>.</a:t>
            </a:r>
            <a:endParaRPr lang="en-US" sz="8800" dirty="0"/>
          </a:p>
        </p:txBody>
      </p:sp>
      <p:sp>
        <p:nvSpPr>
          <p:cNvPr id="6" name="Text 4"/>
          <p:cNvSpPr/>
          <p:nvPr/>
        </p:nvSpPr>
        <p:spPr>
          <a:xfrm>
            <a:off x="640080" y="3291840"/>
            <a:ext cx="10972800" cy="548640"/>
          </a:xfrm>
          <a:prstGeom prst="rect">
            <a:avLst/>
          </a:prstGeom>
          <a:noFill/>
          <a:ln/>
        </p:spPr>
        <p:txBody>
          <a:bodyPr wrap="square" lIns="0" tIns="0" rIns="0" bIns="0" rtlCol="0" anchor="ctr"/>
          <a:lstStyle/>
          <a:p>
            <a:pPr indent="0" marL="0">
              <a:buNone/>
            </a:pPr>
            <a:r>
              <a:rPr lang="en-US" sz="2400" dirty="0">
                <a:solidFill>
                  <a:srgbClr val="E8B547"/>
                </a:solidFill>
                <a:latin typeface="Consolas" pitchFamily="34" charset="0"/>
                <a:ea typeface="Consolas" pitchFamily="34" charset="-122"/>
                <a:cs typeface="Consolas" pitchFamily="34" charset="-120"/>
              </a:rPr>
              <a:t>yashvigala.github.io/HCI/lab/</a:t>
            </a:r>
            <a:endParaRPr lang="en-US" sz="2400" dirty="0"/>
          </a:p>
        </p:txBody>
      </p:sp>
      <p:sp>
        <p:nvSpPr>
          <p:cNvPr id="7" name="Text 5"/>
          <p:cNvSpPr/>
          <p:nvPr/>
        </p:nvSpPr>
        <p:spPr>
          <a:xfrm>
            <a:off x="640080" y="3840480"/>
            <a:ext cx="10972800" cy="365760"/>
          </a:xfrm>
          <a:prstGeom prst="rect">
            <a:avLst/>
          </a:prstGeom>
          <a:noFill/>
          <a:ln/>
        </p:spPr>
        <p:txBody>
          <a:bodyPr wrap="square" lIns="0" tIns="0" rIns="0" bIns="0" rtlCol="0" anchor="ctr"/>
          <a:lstStyle/>
          <a:p>
            <a:pPr indent="0" marL="0">
              <a:buNone/>
            </a:pPr>
            <a:r>
              <a:rPr lang="en-US" sz="1400" dirty="0">
                <a:solidFill>
                  <a:srgbClr val="BCB5A6"/>
                </a:solidFill>
                <a:latin typeface="Consolas" pitchFamily="34" charset="0"/>
                <a:ea typeface="Consolas" pitchFamily="34" charset="-122"/>
                <a:cs typeface="Consolas" pitchFamily="34" charset="-120"/>
              </a:rPr>
              <a:t>github.com/yashvigala/HCI</a:t>
            </a:r>
            <a:endParaRPr lang="en-US" sz="1400" dirty="0"/>
          </a:p>
        </p:txBody>
      </p:sp>
      <p:sp>
        <p:nvSpPr>
          <p:cNvPr id="8" name="Text 6"/>
          <p:cNvSpPr/>
          <p:nvPr/>
        </p:nvSpPr>
        <p:spPr>
          <a:xfrm>
            <a:off x="640080" y="5760720"/>
            <a:ext cx="10972800" cy="365760"/>
          </a:xfrm>
          <a:prstGeom prst="rect">
            <a:avLst/>
          </a:prstGeom>
          <a:noFill/>
          <a:ln/>
        </p:spPr>
        <p:txBody>
          <a:bodyPr wrap="square" lIns="0" tIns="0" rIns="0" bIns="0" rtlCol="0" anchor="ctr"/>
          <a:lstStyle/>
          <a:p>
            <a:pPr indent="0" marL="0">
              <a:buNone/>
            </a:pPr>
            <a:r>
              <a:rPr lang="en-US" sz="1600" i="1" dirty="0">
                <a:solidFill>
                  <a:srgbClr val="EDEAE0"/>
                </a:solidFill>
                <a:latin typeface="Georgia" pitchFamily="34" charset="0"/>
                <a:ea typeface="Georgia" pitchFamily="34" charset="-122"/>
                <a:cs typeface="Georgia" pitchFamily="34" charset="-120"/>
              </a:rPr>
              <a:t>"If a door needs a sign, the door is broken."</a:t>
            </a:r>
            <a:endParaRPr lang="en-US" sz="1600" dirty="0"/>
          </a:p>
        </p:txBody>
      </p:sp>
      <p:sp>
        <p:nvSpPr>
          <p:cNvPr id="9" name="Text 7"/>
          <p:cNvSpPr/>
          <p:nvPr/>
        </p:nvSpPr>
        <p:spPr>
          <a:xfrm>
            <a:off x="640080" y="6172200"/>
            <a:ext cx="10972800" cy="365760"/>
          </a:xfrm>
          <a:prstGeom prst="rect">
            <a:avLst/>
          </a:prstGeom>
          <a:noFill/>
          <a:ln/>
        </p:spPr>
        <p:txBody>
          <a:bodyPr wrap="square" lIns="0" tIns="0" rIns="0" bIns="0" rtlCol="0" anchor="ctr"/>
          <a:lstStyle/>
          <a:p>
            <a:pPr indent="0" marL="0">
              <a:buNone/>
            </a:pPr>
            <a:r>
              <a:rPr lang="en-US" sz="1200" dirty="0">
                <a:solidFill>
                  <a:srgbClr val="BCB5A6"/>
                </a:solidFill>
                <a:latin typeface="Calibri" pitchFamily="34" charset="0"/>
                <a:ea typeface="Calibri" pitchFamily="34" charset="-122"/>
                <a:cs typeface="Calibri" pitchFamily="34" charset="-120"/>
              </a:rPr>
              <a:t>Pratham Prasoon · HCI 06.103.115 · IIT Guwahati · Spring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IIT Guwahati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Field Lab — HCI 06.103.115</dc:title>
  <dc:subject>PptxGenJS Presentation</dc:subject>
  <dc:creator>Pratham Prasoon</dc:creator>
  <cp:lastModifiedBy>Pratham Prasoon</cp:lastModifiedBy>
  <cp:revision>1</cp:revision>
  <dcterms:created xsi:type="dcterms:W3CDTF">2026-04-29T14:20:25Z</dcterms:created>
  <dcterms:modified xsi:type="dcterms:W3CDTF">2026-04-29T14:20:25Z</dcterms:modified>
</cp:coreProperties>
</file>