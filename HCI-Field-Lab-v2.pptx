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6812280"/>
            <a:ext cx="12161520" cy="45720"/>
          </a:xfrm>
          <a:prstGeom prst="rect">
            <a:avLst/>
          </a:prstGeom>
          <a:solidFill>
            <a:srgbClr val="E8B547"/>
          </a:solidFill>
          <a:ln/>
        </p:spPr>
      </p:sp>
      <p:sp>
        <p:nvSpPr>
          <p:cNvPr id="3" name="Text 1"/>
          <p:cNvSpPr/>
          <p:nvPr/>
        </p:nvSpPr>
        <p:spPr>
          <a:xfrm>
            <a:off x="640080" y="502920"/>
            <a:ext cx="10972800" cy="320040"/>
          </a:xfrm>
          <a:prstGeom prst="rect">
            <a:avLst/>
          </a:prstGeom>
          <a:noFill/>
          <a:ln/>
        </p:spPr>
        <p:txBody>
          <a:bodyPr wrap="square" lIns="0" tIns="0" rIns="0" bIns="0" rtlCol="0" anchor="ctr"/>
          <a:lstStyle/>
          <a:p>
            <a:pPr indent="0" marL="0">
              <a:buNone/>
            </a:pPr>
            <a:r>
              <a:rPr lang="en-US" sz="1100" spc="500" kern="0" dirty="0">
                <a:solidFill>
                  <a:srgbClr val="BCB5A6"/>
                </a:solidFill>
                <a:latin typeface="Consolas" pitchFamily="34" charset="0"/>
                <a:ea typeface="Consolas" pitchFamily="34" charset="-122"/>
                <a:cs typeface="Consolas" pitchFamily="34" charset="-120"/>
              </a:rPr>
              <a:t>FIELD LAB · A WEBSITE THAT TEACHES HCI BY MAKING YOU USE IT</a:t>
            </a:r>
            <a:endParaRPr lang="en-US" sz="1100" dirty="0"/>
          </a:p>
        </p:txBody>
      </p:sp>
      <p:sp>
        <p:nvSpPr>
          <p:cNvPr id="4" name="Text 2"/>
          <p:cNvSpPr/>
          <p:nvPr/>
        </p:nvSpPr>
        <p:spPr>
          <a:xfrm>
            <a:off x="640080" y="1554480"/>
            <a:ext cx="10972800" cy="3657600"/>
          </a:xfrm>
          <a:prstGeom prst="rect">
            <a:avLst/>
          </a:prstGeom>
          <a:noFill/>
          <a:ln/>
        </p:spPr>
        <p:txBody>
          <a:bodyPr wrap="square" lIns="0" tIns="0" rIns="0" bIns="0" rtlCol="0" anchor="ctr"/>
          <a:lstStyle/>
          <a:p>
            <a:pPr indent="0" marL="0">
              <a:buNone/>
            </a:pPr>
            <a:r>
              <a:rPr lang="en-US" sz="11000" spc="-200" kern="0" dirty="0">
                <a:solidFill>
                  <a:srgbClr val="EDEAE0"/>
                </a:solidFill>
                <a:latin typeface="Georgia" pitchFamily="34" charset="0"/>
                <a:ea typeface="Georgia" pitchFamily="34" charset="-122"/>
                <a:cs typeface="Georgia" pitchFamily="34" charset="-120"/>
              </a:rPr>
              <a:t>Don't </a:t>
            </a:r>
            <a:pPr indent="0" marL="0">
              <a:buNone/>
            </a:pPr>
            <a:r>
              <a:rPr lang="en-US" sz="11000" i="1" spc="-200" kern="0" dirty="0">
                <a:solidFill>
                  <a:srgbClr val="E8B547"/>
                </a:solidFill>
                <a:latin typeface="Georgia" pitchFamily="34" charset="0"/>
                <a:ea typeface="Georgia" pitchFamily="34" charset="-122"/>
                <a:cs typeface="Georgia" pitchFamily="34" charset="-120"/>
              </a:rPr>
              <a:t>read</a:t>
            </a:r>
            <a:pPr indent="0" marL="0">
              <a:buNone/>
            </a:pPr>
            <a:r>
              <a:rPr lang="en-US" sz="11000" spc="-200" kern="0" dirty="0">
                <a:solidFill>
                  <a:srgbClr val="EDEAE0"/>
                </a:solidFill>
                <a:latin typeface="Georgia" pitchFamily="34" charset="0"/>
                <a:ea typeface="Georgia" pitchFamily="34" charset="-122"/>
                <a:cs typeface="Georgia" pitchFamily="34" charset="-120"/>
              </a:rPr>
              <a:t> about HCI.</a:t>
            </a:r>
            <a:endParaRPr lang="en-US" sz="11000" dirty="0"/>
          </a:p>
          <a:p>
            <a:pPr indent="0" marL="0">
              <a:buNone/>
            </a:pPr>
            <a:r>
              <a:rPr lang="en-US" sz="11000" i="1" spc="-200" kern="0" dirty="0">
                <a:solidFill>
                  <a:srgbClr val="E8B547"/>
                </a:solidFill>
                <a:latin typeface="Georgia" pitchFamily="34" charset="0"/>
                <a:ea typeface="Georgia" pitchFamily="34" charset="-122"/>
                <a:cs typeface="Georgia" pitchFamily="34" charset="-120"/>
              </a:rPr>
              <a:t>Touch</a:t>
            </a:r>
            <a:pPr indent="0" marL="0">
              <a:buNone/>
            </a:pPr>
            <a:r>
              <a:rPr lang="en-US" sz="11000" spc="-200" kern="0" dirty="0">
                <a:solidFill>
                  <a:srgbClr val="EDEAE0"/>
                </a:solidFill>
                <a:latin typeface="Georgia" pitchFamily="34" charset="0"/>
                <a:ea typeface="Georgia" pitchFamily="34" charset="-122"/>
                <a:cs typeface="Georgia" pitchFamily="34" charset="-120"/>
              </a:rPr>
              <a:t> it.</a:t>
            </a:r>
            <a:endParaRPr lang="en-US" sz="11000" dirty="0"/>
          </a:p>
        </p:txBody>
      </p:sp>
      <p:sp>
        <p:nvSpPr>
          <p:cNvPr id="5" name="Text 3"/>
          <p:cNvSpPr/>
          <p:nvPr/>
        </p:nvSpPr>
        <p:spPr>
          <a:xfrm>
            <a:off x="640080" y="5486400"/>
            <a:ext cx="10972800" cy="320040"/>
          </a:xfrm>
          <a:prstGeom prst="rect">
            <a:avLst/>
          </a:prstGeom>
          <a:noFill/>
          <a:ln/>
        </p:spPr>
        <p:txBody>
          <a:bodyPr wrap="square" lIns="0" tIns="0" rIns="0" bIns="0" rtlCol="0" anchor="ctr"/>
          <a:lstStyle/>
          <a:p>
            <a:pPr indent="0" marL="0">
              <a:buNone/>
            </a:pPr>
            <a:r>
              <a:rPr lang="en-US" sz="1400" dirty="0">
                <a:solidFill>
                  <a:srgbClr val="BCB5A6"/>
                </a:solidFill>
                <a:latin typeface="Calibri" pitchFamily="34" charset="0"/>
                <a:ea typeface="Calibri" pitchFamily="34" charset="-122"/>
                <a:cs typeface="Calibri" pitchFamily="34" charset="-120"/>
              </a:rPr>
              <a:t>HCI 06.103.115 · IIT Guwahati · Dr. Samit Bhattacharya</a:t>
            </a:r>
            <a:endParaRPr lang="en-US" sz="1400" dirty="0"/>
          </a:p>
        </p:txBody>
      </p:sp>
      <p:sp>
        <p:nvSpPr>
          <p:cNvPr id="6" name="Text 4"/>
          <p:cNvSpPr/>
          <p:nvPr/>
        </p:nvSpPr>
        <p:spPr>
          <a:xfrm>
            <a:off x="640080" y="5897880"/>
            <a:ext cx="10972800" cy="320040"/>
          </a:xfrm>
          <a:prstGeom prst="rect">
            <a:avLst/>
          </a:prstGeom>
          <a:noFill/>
          <a:ln/>
        </p:spPr>
        <p:txBody>
          <a:bodyPr wrap="square" lIns="0" tIns="0" rIns="0" bIns="0" rtlCol="0" anchor="ctr"/>
          <a:lstStyle/>
          <a:p>
            <a:pPr indent="0" marL="0">
              <a:buNone/>
            </a:pPr>
            <a:r>
              <a:rPr lang="en-US" sz="1300" dirty="0">
                <a:solidFill>
                  <a:srgbClr val="E8B547"/>
                </a:solidFill>
                <a:latin typeface="Consolas" pitchFamily="34" charset="0"/>
                <a:ea typeface="Consolas" pitchFamily="34" charset="-122"/>
                <a:cs typeface="Consolas" pitchFamily="34" charset="-120"/>
              </a:rPr>
              <a:t>github.com/yashvigala/HCI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02 / 18</a:t>
            </a:r>
            <a:endParaRPr lang="en-US" sz="900" dirty="0"/>
          </a:p>
        </p:txBody>
      </p:sp>
      <p:sp>
        <p:nvSpPr>
          <p:cNvPr id="5" name="Text 3"/>
          <p:cNvSpPr/>
          <p:nvPr/>
        </p:nvSpPr>
        <p:spPr>
          <a:xfrm>
            <a:off x="640080" y="502920"/>
            <a:ext cx="73152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WHAT THIS PROJECT IS</a:t>
            </a:r>
            <a:endParaRPr lang="en-US" sz="1000" dirty="0"/>
          </a:p>
        </p:txBody>
      </p:sp>
      <p:sp>
        <p:nvSpPr>
          <p:cNvPr id="6" name="Text 4"/>
          <p:cNvSpPr/>
          <p:nvPr/>
        </p:nvSpPr>
        <p:spPr>
          <a:xfrm>
            <a:off x="640080" y="1097280"/>
            <a:ext cx="10972800" cy="2560320"/>
          </a:xfrm>
          <a:prstGeom prst="rect">
            <a:avLst/>
          </a:prstGeom>
          <a:noFill/>
          <a:ln/>
        </p:spPr>
        <p:txBody>
          <a:bodyPr wrap="square" lIns="0" tIns="0" rIns="0" bIns="0" rtlCol="0" anchor="ctr"/>
          <a:lstStyle/>
          <a:p>
            <a:pPr indent="0" marL="0">
              <a:buNone/>
            </a:pPr>
            <a:r>
              <a:rPr lang="en-US" sz="6000" spc="-100" kern="0" dirty="0">
                <a:solidFill>
                  <a:srgbClr val="EDEAE0"/>
                </a:solidFill>
                <a:latin typeface="Georgia" pitchFamily="34" charset="0"/>
                <a:ea typeface="Georgia" pitchFamily="34" charset="-122"/>
                <a:cs typeface="Georgia" pitchFamily="34" charset="-120"/>
              </a:rPr>
              <a:t>A website </a:t>
            </a:r>
            <a:pPr indent="0" marL="0">
              <a:buNone/>
            </a:pPr>
            <a:r>
              <a:rPr lang="en-US" sz="6000" i="1" spc="-100" kern="0" dirty="0">
                <a:solidFill>
                  <a:srgbClr val="E8B547"/>
                </a:solidFill>
                <a:latin typeface="Georgia" pitchFamily="34" charset="0"/>
                <a:ea typeface="Georgia" pitchFamily="34" charset="-122"/>
                <a:cs typeface="Georgia" pitchFamily="34" charset="-120"/>
              </a:rPr>
              <a:t>about</a:t>
            </a:r>
            <a:pPr indent="0" marL="0">
              <a:buNone/>
            </a:pPr>
            <a:r>
              <a:rPr lang="en-US" sz="6000" spc="-100" kern="0" dirty="0">
                <a:solidFill>
                  <a:srgbClr val="EDEAE0"/>
                </a:solidFill>
                <a:latin typeface="Georgia" pitchFamily="34" charset="0"/>
                <a:ea typeface="Georgia" pitchFamily="34" charset="-122"/>
                <a:cs typeface="Georgia" pitchFamily="34" charset="-120"/>
              </a:rPr>
              <a:t> HCI</a:t>
            </a:r>
            <a:endParaRPr lang="en-US" sz="6000" dirty="0"/>
          </a:p>
          <a:p>
            <a:pPr indent="0" marL="0">
              <a:buNone/>
            </a:pPr>
            <a:r>
              <a:rPr lang="en-US" sz="6000" spc="-100" kern="0" dirty="0">
                <a:solidFill>
                  <a:srgbClr val="EDEAE0"/>
                </a:solidFill>
                <a:latin typeface="Georgia" pitchFamily="34" charset="0"/>
                <a:ea typeface="Georgia" pitchFamily="34" charset="-122"/>
                <a:cs typeface="Georgia" pitchFamily="34" charset="-120"/>
              </a:rPr>
              <a:t>that </a:t>
            </a:r>
            <a:pPr indent="0" marL="0">
              <a:buNone/>
            </a:pPr>
            <a:r>
              <a:rPr lang="en-US" sz="6000" i="1" spc="-100" kern="0" dirty="0">
                <a:solidFill>
                  <a:srgbClr val="E8B547"/>
                </a:solidFill>
                <a:latin typeface="Georgia" pitchFamily="34" charset="0"/>
                <a:ea typeface="Georgia" pitchFamily="34" charset="-122"/>
                <a:cs typeface="Georgia" pitchFamily="34" charset="-120"/>
              </a:rPr>
              <a:t>is also</a:t>
            </a:r>
            <a:pPr indent="0" marL="0">
              <a:buNone/>
            </a:pPr>
            <a:r>
              <a:rPr lang="en-US" sz="6000" spc="-100" kern="0" dirty="0">
                <a:solidFill>
                  <a:srgbClr val="EDEAE0"/>
                </a:solidFill>
                <a:latin typeface="Georgia" pitchFamily="34" charset="0"/>
                <a:ea typeface="Georgia" pitchFamily="34" charset="-122"/>
                <a:cs typeface="Georgia" pitchFamily="34" charset="-120"/>
              </a:rPr>
              <a:t> HCI.</a:t>
            </a:r>
            <a:endParaRPr lang="en-US" sz="6000" dirty="0"/>
          </a:p>
        </p:txBody>
      </p:sp>
      <p:sp>
        <p:nvSpPr>
          <p:cNvPr id="7" name="Text 5"/>
          <p:cNvSpPr/>
          <p:nvPr/>
        </p:nvSpPr>
        <p:spPr>
          <a:xfrm>
            <a:off x="640080" y="402336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THE IDEA</a:t>
            </a:r>
            <a:endParaRPr lang="en-US" sz="900" dirty="0"/>
          </a:p>
        </p:txBody>
      </p:sp>
      <p:sp>
        <p:nvSpPr>
          <p:cNvPr id="8" name="Text 6"/>
          <p:cNvSpPr/>
          <p:nvPr/>
        </p:nvSpPr>
        <p:spPr>
          <a:xfrm>
            <a:off x="3108960" y="4023360"/>
            <a:ext cx="8595360" cy="713232"/>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Most HCI lessons are essays. They tell you what Fitts's Law is, what Nielsen's heuristics are. You read, nod, forget. So I built the opposite — a single web page where each principle is a working tool. You don't read about Fitts's Law; you drag a target and feel the math change.</a:t>
            </a:r>
            <a:endParaRPr lang="en-US" sz="1200" dirty="0"/>
          </a:p>
        </p:txBody>
      </p:sp>
      <p:sp>
        <p:nvSpPr>
          <p:cNvPr id="9" name="Text 7"/>
          <p:cNvSpPr/>
          <p:nvPr/>
        </p:nvSpPr>
        <p:spPr>
          <a:xfrm>
            <a:off x="640080" y="48006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THIS WAY</a:t>
            </a:r>
            <a:endParaRPr lang="en-US" sz="900" dirty="0"/>
          </a:p>
        </p:txBody>
      </p:sp>
      <p:sp>
        <p:nvSpPr>
          <p:cNvPr id="10" name="Text 8"/>
          <p:cNvSpPr/>
          <p:nvPr/>
        </p:nvSpPr>
        <p:spPr>
          <a:xfrm>
            <a:off x="3108960" y="4800600"/>
            <a:ext cx="8595360" cy="713232"/>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A site that teaches HCI is also a chance to use HCI. Every button, layout choice, and interaction in the site itself was a chance to obey the rules I was teaching — or to break them. The site is the proof I understood the material, because building it required me to apply it.</a:t>
            </a:r>
            <a:endParaRPr lang="en-US" sz="1200" dirty="0"/>
          </a:p>
        </p:txBody>
      </p:sp>
      <p:sp>
        <p:nvSpPr>
          <p:cNvPr id="11" name="Text 9"/>
          <p:cNvSpPr/>
          <p:nvPr/>
        </p:nvSpPr>
        <p:spPr>
          <a:xfrm>
            <a:off x="640080" y="55778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YOU'LL SEE NEXT</a:t>
            </a:r>
            <a:endParaRPr lang="en-US" sz="900" dirty="0"/>
          </a:p>
        </p:txBody>
      </p:sp>
      <p:sp>
        <p:nvSpPr>
          <p:cNvPr id="12" name="Text 10"/>
          <p:cNvSpPr/>
          <p:nvPr/>
        </p:nvSpPr>
        <p:spPr>
          <a:xfrm>
            <a:off x="3108960" y="5577840"/>
            <a:ext cx="8595360" cy="713232"/>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Eight short demos — one per major HCI principle — followed by an honest audit of where the site fails its own rules and what I fixed. The whole thing is one HTML file: no frameworks, no libraries, ~70KB. View source and read the JavaScript if you don't believe 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03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THE EIGHT TOOLS</a:t>
            </a:r>
            <a:endParaRPr lang="en-US" sz="1000" dirty="0"/>
          </a:p>
        </p:txBody>
      </p:sp>
      <p:sp>
        <p:nvSpPr>
          <p:cNvPr id="6" name="Text 4"/>
          <p:cNvSpPr/>
          <p:nvPr/>
        </p:nvSpPr>
        <p:spPr>
          <a:xfrm>
            <a:off x="640080" y="868680"/>
            <a:ext cx="10972800" cy="914400"/>
          </a:xfrm>
          <a:prstGeom prst="rect">
            <a:avLst/>
          </a:prstGeom>
          <a:noFill/>
          <a:ln/>
        </p:spPr>
        <p:txBody>
          <a:bodyPr wrap="square" lIns="0" tIns="0" rIns="0" bIns="0" rtlCol="0" anchor="ctr"/>
          <a:lstStyle/>
          <a:p>
            <a:pPr indent="0" marL="0">
              <a:buNone/>
            </a:pPr>
            <a:r>
              <a:rPr lang="en-US" sz="4000" spc="-100" kern="0" dirty="0">
                <a:solidFill>
                  <a:srgbClr val="EDEAE0"/>
                </a:solidFill>
                <a:latin typeface="Georgia" pitchFamily="34" charset="0"/>
                <a:ea typeface="Georgia" pitchFamily="34" charset="-122"/>
                <a:cs typeface="Georgia" pitchFamily="34" charset="-120"/>
              </a:rPr>
              <a:t>One page. </a:t>
            </a:r>
            <a:pPr indent="0" marL="0">
              <a:buNone/>
            </a:pPr>
            <a:r>
              <a:rPr lang="en-US" sz="4000" i="1" spc="-100" kern="0" dirty="0">
                <a:solidFill>
                  <a:srgbClr val="E8B547"/>
                </a:solidFill>
                <a:latin typeface="Georgia" pitchFamily="34" charset="0"/>
                <a:ea typeface="Georgia" pitchFamily="34" charset="-122"/>
                <a:cs typeface="Georgia" pitchFamily="34" charset="-120"/>
              </a:rPr>
              <a:t>Eight tools</a:t>
            </a:r>
            <a:pPr indent="0" marL="0">
              <a:buNone/>
            </a:pPr>
            <a:r>
              <a:rPr lang="en-US" sz="4000" spc="-100" kern="0" dirty="0">
                <a:solidFill>
                  <a:srgbClr val="EDEAE0"/>
                </a:solidFill>
                <a:latin typeface="Georgia" pitchFamily="34" charset="0"/>
                <a:ea typeface="Georgia" pitchFamily="34" charset="-122"/>
                <a:cs typeface="Georgia" pitchFamily="34" charset="-120"/>
              </a:rPr>
              <a:t>. Scroll to use them.</a:t>
            </a:r>
            <a:endParaRPr lang="en-US" sz="4000" dirty="0"/>
          </a:p>
        </p:txBody>
      </p:sp>
      <p:sp>
        <p:nvSpPr>
          <p:cNvPr id="7" name="Shape 5"/>
          <p:cNvSpPr/>
          <p:nvPr/>
        </p:nvSpPr>
        <p:spPr>
          <a:xfrm>
            <a:off x="640080" y="2194560"/>
            <a:ext cx="2697480" cy="1874520"/>
          </a:xfrm>
          <a:prstGeom prst="rect">
            <a:avLst/>
          </a:prstGeom>
          <a:solidFill>
            <a:srgbClr val="13131A"/>
          </a:solidFill>
          <a:ln w="6350">
            <a:solidFill>
              <a:srgbClr val="2A2A35"/>
            </a:solidFill>
            <a:prstDash val="solid"/>
          </a:ln>
        </p:spPr>
      </p:sp>
      <p:sp>
        <p:nvSpPr>
          <p:cNvPr id="8" name="Text 6"/>
          <p:cNvSpPr/>
          <p:nvPr/>
        </p:nvSpPr>
        <p:spPr>
          <a:xfrm>
            <a:off x="777240" y="233172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01</a:t>
            </a:r>
            <a:endParaRPr lang="en-US" sz="900" dirty="0"/>
          </a:p>
        </p:txBody>
      </p:sp>
      <p:sp>
        <p:nvSpPr>
          <p:cNvPr id="9" name="Text 7"/>
          <p:cNvSpPr/>
          <p:nvPr/>
        </p:nvSpPr>
        <p:spPr>
          <a:xfrm>
            <a:off x="777240" y="265176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Fitts</a:t>
            </a:r>
            <a:endParaRPr lang="en-US" sz="3000" dirty="0"/>
          </a:p>
        </p:txBody>
      </p:sp>
      <p:sp>
        <p:nvSpPr>
          <p:cNvPr id="10" name="Text 8"/>
          <p:cNvSpPr/>
          <p:nvPr/>
        </p:nvSpPr>
        <p:spPr>
          <a:xfrm>
            <a:off x="777240" y="329184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How long does it take to click a button? Drag the sliders and find out.</a:t>
            </a:r>
            <a:endParaRPr lang="en-US" sz="1100" dirty="0"/>
          </a:p>
        </p:txBody>
      </p:sp>
      <p:sp>
        <p:nvSpPr>
          <p:cNvPr id="11" name="Shape 9"/>
          <p:cNvSpPr/>
          <p:nvPr/>
        </p:nvSpPr>
        <p:spPr>
          <a:xfrm>
            <a:off x="3474720" y="2194560"/>
            <a:ext cx="2697480" cy="1874520"/>
          </a:xfrm>
          <a:prstGeom prst="rect">
            <a:avLst/>
          </a:prstGeom>
          <a:solidFill>
            <a:srgbClr val="13131A"/>
          </a:solidFill>
          <a:ln w="6350">
            <a:solidFill>
              <a:srgbClr val="2A2A35"/>
            </a:solidFill>
            <a:prstDash val="solid"/>
          </a:ln>
        </p:spPr>
      </p:sp>
      <p:sp>
        <p:nvSpPr>
          <p:cNvPr id="12" name="Text 10"/>
          <p:cNvSpPr/>
          <p:nvPr/>
        </p:nvSpPr>
        <p:spPr>
          <a:xfrm>
            <a:off x="3611880" y="233172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02</a:t>
            </a:r>
            <a:endParaRPr lang="en-US" sz="900" dirty="0"/>
          </a:p>
        </p:txBody>
      </p:sp>
      <p:sp>
        <p:nvSpPr>
          <p:cNvPr id="13" name="Text 11"/>
          <p:cNvSpPr/>
          <p:nvPr/>
        </p:nvSpPr>
        <p:spPr>
          <a:xfrm>
            <a:off x="3611880" y="265176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Hick</a:t>
            </a:r>
            <a:endParaRPr lang="en-US" sz="3000" dirty="0"/>
          </a:p>
        </p:txBody>
      </p:sp>
      <p:sp>
        <p:nvSpPr>
          <p:cNvPr id="14" name="Text 12"/>
          <p:cNvSpPr/>
          <p:nvPr/>
        </p:nvSpPr>
        <p:spPr>
          <a:xfrm>
            <a:off x="3611880" y="329184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More choices = slower decisions. Time yourself across 2, 4, 8, and 16 options.</a:t>
            </a:r>
            <a:endParaRPr lang="en-US" sz="1100" dirty="0"/>
          </a:p>
        </p:txBody>
      </p:sp>
      <p:sp>
        <p:nvSpPr>
          <p:cNvPr id="15" name="Shape 13"/>
          <p:cNvSpPr/>
          <p:nvPr/>
        </p:nvSpPr>
        <p:spPr>
          <a:xfrm>
            <a:off x="6309360" y="2194560"/>
            <a:ext cx="2697480" cy="1874520"/>
          </a:xfrm>
          <a:prstGeom prst="rect">
            <a:avLst/>
          </a:prstGeom>
          <a:solidFill>
            <a:srgbClr val="13131A"/>
          </a:solidFill>
          <a:ln w="6350">
            <a:solidFill>
              <a:srgbClr val="2A2A35"/>
            </a:solidFill>
            <a:prstDash val="solid"/>
          </a:ln>
        </p:spPr>
      </p:sp>
      <p:sp>
        <p:nvSpPr>
          <p:cNvPr id="16" name="Text 14"/>
          <p:cNvSpPr/>
          <p:nvPr/>
        </p:nvSpPr>
        <p:spPr>
          <a:xfrm>
            <a:off x="6446520" y="233172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03</a:t>
            </a:r>
            <a:endParaRPr lang="en-US" sz="900" dirty="0"/>
          </a:p>
        </p:txBody>
      </p:sp>
      <p:sp>
        <p:nvSpPr>
          <p:cNvPr id="17" name="Text 15"/>
          <p:cNvSpPr/>
          <p:nvPr/>
        </p:nvSpPr>
        <p:spPr>
          <a:xfrm>
            <a:off x="6446520" y="265176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Gestalt</a:t>
            </a:r>
            <a:endParaRPr lang="en-US" sz="3000" dirty="0"/>
          </a:p>
        </p:txBody>
      </p:sp>
      <p:sp>
        <p:nvSpPr>
          <p:cNvPr id="18" name="Text 16"/>
          <p:cNvSpPr/>
          <p:nvPr/>
        </p:nvSpPr>
        <p:spPr>
          <a:xfrm>
            <a:off x="6446520" y="329184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Why do dots look like groups? Toggle four perception rules and watch.</a:t>
            </a:r>
            <a:endParaRPr lang="en-US" sz="1100" dirty="0"/>
          </a:p>
        </p:txBody>
      </p:sp>
      <p:sp>
        <p:nvSpPr>
          <p:cNvPr id="19" name="Shape 17"/>
          <p:cNvSpPr/>
          <p:nvPr/>
        </p:nvSpPr>
        <p:spPr>
          <a:xfrm>
            <a:off x="9144000" y="2194560"/>
            <a:ext cx="2697480" cy="1874520"/>
          </a:xfrm>
          <a:prstGeom prst="rect">
            <a:avLst/>
          </a:prstGeom>
          <a:solidFill>
            <a:srgbClr val="13131A"/>
          </a:solidFill>
          <a:ln w="6350">
            <a:solidFill>
              <a:srgbClr val="2A2A35"/>
            </a:solidFill>
            <a:prstDash val="solid"/>
          </a:ln>
        </p:spPr>
      </p:sp>
      <p:sp>
        <p:nvSpPr>
          <p:cNvPr id="20" name="Text 18"/>
          <p:cNvSpPr/>
          <p:nvPr/>
        </p:nvSpPr>
        <p:spPr>
          <a:xfrm>
            <a:off x="9281160" y="233172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04</a:t>
            </a:r>
            <a:endParaRPr lang="en-US" sz="900" dirty="0"/>
          </a:p>
        </p:txBody>
      </p:sp>
      <p:sp>
        <p:nvSpPr>
          <p:cNvPr id="21" name="Text 19"/>
          <p:cNvSpPr/>
          <p:nvPr/>
        </p:nvSpPr>
        <p:spPr>
          <a:xfrm>
            <a:off x="9281160" y="265176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Norman</a:t>
            </a:r>
            <a:endParaRPr lang="en-US" sz="3000" dirty="0"/>
          </a:p>
        </p:txBody>
      </p:sp>
      <p:sp>
        <p:nvSpPr>
          <p:cNvPr id="22" name="Text 20"/>
          <p:cNvSpPr/>
          <p:nvPr/>
        </p:nvSpPr>
        <p:spPr>
          <a:xfrm>
            <a:off x="9281160" y="329184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Why bad doors confuse you. Three demos: doors, stove knobs, button feedback.</a:t>
            </a:r>
            <a:endParaRPr lang="en-US" sz="1100" dirty="0"/>
          </a:p>
        </p:txBody>
      </p:sp>
      <p:sp>
        <p:nvSpPr>
          <p:cNvPr id="23" name="Shape 21"/>
          <p:cNvSpPr/>
          <p:nvPr/>
        </p:nvSpPr>
        <p:spPr>
          <a:xfrm>
            <a:off x="640080" y="4206240"/>
            <a:ext cx="2697480" cy="1874520"/>
          </a:xfrm>
          <a:prstGeom prst="rect">
            <a:avLst/>
          </a:prstGeom>
          <a:solidFill>
            <a:srgbClr val="13131A"/>
          </a:solidFill>
          <a:ln w="6350">
            <a:solidFill>
              <a:srgbClr val="2A2A35"/>
            </a:solidFill>
            <a:prstDash val="solid"/>
          </a:ln>
        </p:spPr>
      </p:sp>
      <p:sp>
        <p:nvSpPr>
          <p:cNvPr id="24" name="Text 22"/>
          <p:cNvSpPr/>
          <p:nvPr/>
        </p:nvSpPr>
        <p:spPr>
          <a:xfrm>
            <a:off x="77724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05</a:t>
            </a:r>
            <a:endParaRPr lang="en-US" sz="900" dirty="0"/>
          </a:p>
        </p:txBody>
      </p:sp>
      <p:sp>
        <p:nvSpPr>
          <p:cNvPr id="25" name="Text 23"/>
          <p:cNvSpPr/>
          <p:nvPr/>
        </p:nvSpPr>
        <p:spPr>
          <a:xfrm>
            <a:off x="77724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Nielsen</a:t>
            </a:r>
            <a:endParaRPr lang="en-US" sz="3000" dirty="0"/>
          </a:p>
        </p:txBody>
      </p:sp>
      <p:sp>
        <p:nvSpPr>
          <p:cNvPr id="26" name="Text 24"/>
          <p:cNvSpPr/>
          <p:nvPr/>
        </p:nvSpPr>
        <p:spPr>
          <a:xfrm>
            <a:off x="777240" y="530352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Ten rules of good interfaces. Each shown broken vs fixed in tiny mock-ups.</a:t>
            </a:r>
            <a:endParaRPr lang="en-US" sz="1100" dirty="0"/>
          </a:p>
        </p:txBody>
      </p:sp>
      <p:sp>
        <p:nvSpPr>
          <p:cNvPr id="27" name="Shape 25"/>
          <p:cNvSpPr/>
          <p:nvPr/>
        </p:nvSpPr>
        <p:spPr>
          <a:xfrm>
            <a:off x="3474720" y="4206240"/>
            <a:ext cx="2697480" cy="1874520"/>
          </a:xfrm>
          <a:prstGeom prst="rect">
            <a:avLst/>
          </a:prstGeom>
          <a:solidFill>
            <a:srgbClr val="13131A"/>
          </a:solidFill>
          <a:ln w="6350">
            <a:solidFill>
              <a:srgbClr val="2A2A35"/>
            </a:solidFill>
            <a:prstDash val="solid"/>
          </a:ln>
        </p:spPr>
      </p:sp>
      <p:sp>
        <p:nvSpPr>
          <p:cNvPr id="28" name="Text 26"/>
          <p:cNvSpPr/>
          <p:nvPr/>
        </p:nvSpPr>
        <p:spPr>
          <a:xfrm>
            <a:off x="361188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06</a:t>
            </a:r>
            <a:endParaRPr lang="en-US" sz="900" dirty="0"/>
          </a:p>
        </p:txBody>
      </p:sp>
      <p:sp>
        <p:nvSpPr>
          <p:cNvPr id="29" name="Text 27"/>
          <p:cNvSpPr/>
          <p:nvPr/>
        </p:nvSpPr>
        <p:spPr>
          <a:xfrm>
            <a:off x="361188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KLM</a:t>
            </a:r>
            <a:endParaRPr lang="en-US" sz="3000" dirty="0"/>
          </a:p>
        </p:txBody>
      </p:sp>
      <p:sp>
        <p:nvSpPr>
          <p:cNvPr id="30" name="Text 28"/>
          <p:cNvSpPr/>
          <p:nvPr/>
        </p:nvSpPr>
        <p:spPr>
          <a:xfrm>
            <a:off x="3611880" y="530352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Predict how many seconds your task will take, before you ever build it.</a:t>
            </a:r>
            <a:endParaRPr lang="en-US" sz="1100" dirty="0"/>
          </a:p>
        </p:txBody>
      </p:sp>
      <p:sp>
        <p:nvSpPr>
          <p:cNvPr id="31" name="Shape 29"/>
          <p:cNvSpPr/>
          <p:nvPr/>
        </p:nvSpPr>
        <p:spPr>
          <a:xfrm>
            <a:off x="6309360" y="4206240"/>
            <a:ext cx="2697480" cy="1874520"/>
          </a:xfrm>
          <a:prstGeom prst="rect">
            <a:avLst/>
          </a:prstGeom>
          <a:solidFill>
            <a:srgbClr val="13131A"/>
          </a:solidFill>
          <a:ln w="6350">
            <a:solidFill>
              <a:srgbClr val="2A2A35"/>
            </a:solidFill>
            <a:prstDash val="solid"/>
          </a:ln>
        </p:spPr>
      </p:sp>
      <p:sp>
        <p:nvSpPr>
          <p:cNvPr id="32" name="Text 30"/>
          <p:cNvSpPr/>
          <p:nvPr/>
        </p:nvSpPr>
        <p:spPr>
          <a:xfrm>
            <a:off x="644652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07</a:t>
            </a:r>
            <a:endParaRPr lang="en-US" sz="900" dirty="0"/>
          </a:p>
        </p:txBody>
      </p:sp>
      <p:sp>
        <p:nvSpPr>
          <p:cNvPr id="33" name="Text 31"/>
          <p:cNvSpPr/>
          <p:nvPr/>
        </p:nvSpPr>
        <p:spPr>
          <a:xfrm>
            <a:off x="644652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Color</a:t>
            </a:r>
            <a:endParaRPr lang="en-US" sz="3000" dirty="0"/>
          </a:p>
        </p:txBody>
      </p:sp>
      <p:sp>
        <p:nvSpPr>
          <p:cNvPr id="34" name="Text 32"/>
          <p:cNvSpPr/>
          <p:nvPr/>
        </p:nvSpPr>
        <p:spPr>
          <a:xfrm>
            <a:off x="6446520" y="530352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Pick two colours. See if they pass the official accessibility tests.</a:t>
            </a:r>
            <a:endParaRPr lang="en-US" sz="1100" dirty="0"/>
          </a:p>
        </p:txBody>
      </p:sp>
      <p:sp>
        <p:nvSpPr>
          <p:cNvPr id="35" name="Shape 33"/>
          <p:cNvSpPr/>
          <p:nvPr/>
        </p:nvSpPr>
        <p:spPr>
          <a:xfrm>
            <a:off x="9144000" y="4206240"/>
            <a:ext cx="2697480" cy="1874520"/>
          </a:xfrm>
          <a:prstGeom prst="rect">
            <a:avLst/>
          </a:prstGeom>
          <a:solidFill>
            <a:srgbClr val="13131A"/>
          </a:solidFill>
          <a:ln w="6350">
            <a:solidFill>
              <a:srgbClr val="2A2A35"/>
            </a:solidFill>
            <a:prstDash val="solid"/>
          </a:ln>
        </p:spPr>
      </p:sp>
      <p:sp>
        <p:nvSpPr>
          <p:cNvPr id="36" name="Text 34"/>
          <p:cNvSpPr/>
          <p:nvPr/>
        </p:nvSpPr>
        <p:spPr>
          <a:xfrm>
            <a:off x="9281160" y="4343400"/>
            <a:ext cx="13716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 08</a:t>
            </a:r>
            <a:endParaRPr lang="en-US" sz="900" dirty="0"/>
          </a:p>
        </p:txBody>
      </p:sp>
      <p:sp>
        <p:nvSpPr>
          <p:cNvPr id="37" name="Text 35"/>
          <p:cNvSpPr/>
          <p:nvPr/>
        </p:nvSpPr>
        <p:spPr>
          <a:xfrm>
            <a:off x="9281160" y="4663440"/>
            <a:ext cx="2423160" cy="640080"/>
          </a:xfrm>
          <a:prstGeom prst="rect">
            <a:avLst/>
          </a:prstGeom>
          <a:noFill/>
          <a:ln/>
        </p:spPr>
        <p:txBody>
          <a:bodyPr wrap="square" lIns="0" tIns="0" rIns="0" bIns="0" rtlCol="0" anchor="ctr"/>
          <a:lstStyle/>
          <a:p>
            <a:pPr indent="0" marL="0">
              <a:buNone/>
            </a:pPr>
            <a:r>
              <a:rPr lang="en-US" sz="3000" i="1" dirty="0">
                <a:solidFill>
                  <a:srgbClr val="EDEAE0"/>
                </a:solidFill>
                <a:latin typeface="Georgia" pitchFamily="34" charset="0"/>
                <a:ea typeface="Georgia" pitchFamily="34" charset="-122"/>
                <a:cs typeface="Georgia" pitchFamily="34" charset="-120"/>
              </a:rPr>
              <a:t>A11y</a:t>
            </a:r>
            <a:endParaRPr lang="en-US" sz="3000" dirty="0"/>
          </a:p>
        </p:txBody>
      </p:sp>
      <p:sp>
        <p:nvSpPr>
          <p:cNvPr id="38" name="Text 36"/>
          <p:cNvSpPr/>
          <p:nvPr/>
        </p:nvSpPr>
        <p:spPr>
          <a:xfrm>
            <a:off x="9281160" y="5303520"/>
            <a:ext cx="2423160" cy="73152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Become a blind / colour-blind / motion-sensitive user — for a minute.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04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01 / FITTS</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Fitts's </a:t>
            </a:r>
            <a:pPr indent="0" marL="0">
              <a:buNone/>
            </a:pPr>
            <a:r>
              <a:rPr lang="en-US" sz="4400" i="1" spc="-100" kern="0" dirty="0">
                <a:solidFill>
                  <a:srgbClr val="E8B547"/>
                </a:solidFill>
                <a:latin typeface="Georgia" pitchFamily="34" charset="0"/>
                <a:ea typeface="Georgia" pitchFamily="34" charset="-122"/>
                <a:cs typeface="Georgia" pitchFamily="34" charset="-120"/>
              </a:rPr>
              <a:t>Law</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Big buttons that are close are easy to hit. Small ones far away are hard.</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How long it takes to click a button depends on two things: how far away it is from your cursor, and how big it is. The further or smaller the target, the longer the click. The exact relationship is mathematical — there's a formula.</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On phones, your thumb hovers near the bottom. So put your most-tapped button there, and make it big. Spotify's play button is huge for a reason. Tiny X to close a banner ad? Designed to be hard to hit. The math is real.</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Two sliders — distance and target width. Click the amber dot, then race to the mint dot. The site shows the predicted time and your actual time side by side. Make the target small and far — watch both numbers grow.</a:t>
            </a:r>
            <a:endParaRPr lang="en-US" sz="1200" dirty="0"/>
          </a:p>
        </p:txBody>
      </p:sp>
      <p:pic>
        <p:nvPicPr>
          <p:cNvPr id="14" name="Image 0" descr="D:\hci\.shots\02-fitts.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05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02 / HICK</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Hick's </a:t>
            </a:r>
            <a:pPr indent="0" marL="0">
              <a:buNone/>
            </a:pPr>
            <a:r>
              <a:rPr lang="en-US" sz="4400" i="1" spc="-100" kern="0" dirty="0">
                <a:solidFill>
                  <a:srgbClr val="E8B547"/>
                </a:solidFill>
                <a:latin typeface="Georgia" pitchFamily="34" charset="0"/>
                <a:ea typeface="Georgia" pitchFamily="34" charset="-122"/>
                <a:cs typeface="Georgia" pitchFamily="34" charset="-120"/>
              </a:rPr>
              <a:t>Law</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More choices = slower decisions.</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When you give the user 2 buttons, they pick fast. 8 buttons, slower. 16, slower still — and the slowdown is logarithmic, not linear. So adding more choices keeps making things worse, just at a slowing rate.</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Don't dump 50 menu items in a flat row. Group, hide, tier. Three folders of 10 items beats one wall of 30 — the user finds things faster, even though there's an 'extra step.' The biggest menu killer is no hierarchy.</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Pick a number of choices: 2, 4, 8, or 16 tiles appear. Hit START — one tile glows. Tap it as fast as you can. Your reaction time gets plotted against the curve the math predicted. Try all four; watch the curve.</a:t>
            </a:r>
            <a:endParaRPr lang="en-US" sz="1200" dirty="0"/>
          </a:p>
        </p:txBody>
      </p:sp>
      <p:pic>
        <p:nvPicPr>
          <p:cNvPr id="14" name="Image 0" descr="D:\hci\.shots\03-hicks.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06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03 / GESTALT</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Gestalt </a:t>
            </a:r>
            <a:pPr indent="0" marL="0">
              <a:buNone/>
            </a:pPr>
            <a:r>
              <a:rPr lang="en-US" sz="4400" i="1" spc="-100" kern="0" dirty="0">
                <a:solidFill>
                  <a:srgbClr val="E8B547"/>
                </a:solidFill>
                <a:latin typeface="Georgia" pitchFamily="34" charset="0"/>
                <a:ea typeface="Georgia" pitchFamily="34" charset="-122"/>
                <a:cs typeface="Georgia" pitchFamily="34" charset="-120"/>
              </a:rPr>
              <a:t>Grouping</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Your brain groups things before it reads them.</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Things close together feel related (proximity). Things that look the same feel related (similarity). Incomplete shapes still register as shapes (closure). Smooth lines are followed (continuity). Your brain does this work automatically — before you've read a single word.</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Use whitespace to group form fields, not borders. Use the same shape for the same kind of button. Stop drawing boxes around everything — proximity does the grouping for free. Good interfaces lean on perception rather than fighting it.</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Same set of dots, four toggles. Turn proximity OFF — clear columns dissolve into a uniform grid. Turn closure OFF — the circle becomes a scatter. You can literally watch the grouping appear and disappear.</a:t>
            </a:r>
            <a:endParaRPr lang="en-US" sz="1200" dirty="0"/>
          </a:p>
        </p:txBody>
      </p:sp>
      <p:pic>
        <p:nvPicPr>
          <p:cNvPr id="14" name="Image 0" descr="D:\hci\.shots\04-gestalt.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07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04.A / NORMAN</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Norman's </a:t>
            </a:r>
            <a:pPr indent="0" marL="0">
              <a:buNone/>
            </a:pPr>
            <a:r>
              <a:rPr lang="en-US" sz="4400" i="1" spc="-100" kern="0" dirty="0">
                <a:solidFill>
                  <a:srgbClr val="E8B547"/>
                </a:solidFill>
                <a:latin typeface="Georgia" pitchFamily="34" charset="0"/>
                <a:ea typeface="Georgia" pitchFamily="34" charset="-122"/>
                <a:cs typeface="Georgia" pitchFamily="34" charset="-120"/>
              </a:rPr>
              <a:t>Doors</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If a door needs a sign, the door is broken.</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A flat plate on a door tells your hand to push. A graspable handle tells your hand to pull. When the design and function match, you don't need a label. When they don't — when a handle says 'pull me' but the sign says 'push' — the world fights you, every single day.</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Same with software. A button should look pressable. A draggable item should look draggable. Stop adding instructional copy on top of broken designs. Redesign the thing so the design itself is the instruction.</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Two doors. The bad one has a graspable handle BUT a 'PUSH' sign — pulling actually opens it. Click 'Push' and the door shakes; click 'Pull' and it swings open. The conflict you feel is the entire lesson.</a:t>
            </a:r>
            <a:endParaRPr lang="en-US" sz="1200" dirty="0"/>
          </a:p>
        </p:txBody>
      </p:sp>
      <p:pic>
        <p:nvPicPr>
          <p:cNvPr id="14" name="Image 0" descr="D:\hci\.shots\05-norman-doors.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08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04.B / MAPPING</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Stove </a:t>
            </a:r>
            <a:pPr indent="0" marL="0">
              <a:buNone/>
            </a:pPr>
            <a:r>
              <a:rPr lang="en-US" sz="4400" i="1" spc="-100" kern="0" dirty="0">
                <a:solidFill>
                  <a:srgbClr val="E8B547"/>
                </a:solidFill>
                <a:latin typeface="Georgia" pitchFamily="34" charset="0"/>
                <a:ea typeface="Georgia" pitchFamily="34" charset="-122"/>
                <a:cs typeface="Georgia" pitchFamily="34" charset="-120"/>
              </a:rPr>
              <a:t>Mapping</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Knobs should look like the things they control.</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If your stove burners are arranged in a 2x2 grid, your knobs should ALSO be in a 2x2 grid — directly underneath. Then 'top-left knob' obviously controls 'top-left burner.' No labels needed. The position itself is the answer.</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Volume sliders next to the speakers. Brightness next to the screen. The seat-adjustment buttons in modern cars are shaped like the seat. Spatial layout is half the design — and bad spatial design is why every kitchen has a 'wait, which knob is this?' moment.</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Two stoves. The bad one has burners in 2x2 but knobs in a flat row — you must read the labels. The good one has knobs in 2x2 directly below — position alone tells you. Pick a burner letter, then guess its knob.</a:t>
            </a:r>
            <a:endParaRPr lang="en-US" sz="1200" dirty="0"/>
          </a:p>
        </p:txBody>
      </p:sp>
      <p:pic>
        <p:nvPicPr>
          <p:cNvPr id="14" name="Image 0" descr="D:\hci\.shots\06-norman-stove.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09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05 / NIELSEN</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Nielsen's </a:t>
            </a:r>
            <a:pPr indent="0" marL="0">
              <a:buNone/>
            </a:pPr>
            <a:r>
              <a:rPr lang="en-US" sz="4400" i="1" spc="-100" kern="0" dirty="0">
                <a:solidFill>
                  <a:srgbClr val="E8B547"/>
                </a:solidFill>
                <a:latin typeface="Georgia" pitchFamily="34" charset="0"/>
                <a:ea typeface="Georgia" pitchFamily="34" charset="-122"/>
                <a:cs typeface="Georgia" pitchFamily="34" charset="-120"/>
              </a:rPr>
              <a:t>Ten</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Ten short rules every interface should follow.</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In 1994 Jakob Nielsen wrote ten rules for usable design. Things like "always tell the user what the system is doing" and "make important options visible." Five reviewers going through your design with these ten rules will catch about 75% of all usability problems.</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It's a checklist — cheap, fast, before you ever bring in real users. Heuristic evaluation is the most cost-effective usability technique that exists, and these ten rules are the standard checklist worldwide.</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Ten clickable cards, one per rule. Click any to open a modal that shows what 'broken' looks like next to what 'fixed' looks like for that rule — drawn as actual mini-UIs. The next slide shows one example.</a:t>
            </a:r>
            <a:endParaRPr lang="en-US" sz="1200" dirty="0"/>
          </a:p>
        </p:txBody>
      </p:sp>
      <p:pic>
        <p:nvPicPr>
          <p:cNvPr id="14" name="Image 0" descr="D:\hci\.shots\07-nielsen-grid.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10 / 18</a:t>
            </a:r>
            <a:endParaRPr lang="en-US" sz="900" dirty="0"/>
          </a:p>
        </p:txBody>
      </p:sp>
      <p:sp>
        <p:nvSpPr>
          <p:cNvPr id="5" name="Text 3"/>
          <p:cNvSpPr/>
          <p:nvPr/>
        </p:nvSpPr>
        <p:spPr>
          <a:xfrm>
            <a:off x="640080" y="502920"/>
            <a:ext cx="91440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05 / NIELSEN — A SINGLE RULE, EXPANDED</a:t>
            </a:r>
            <a:endParaRPr lang="en-US" sz="1000" dirty="0"/>
          </a:p>
        </p:txBody>
      </p:sp>
      <p:sp>
        <p:nvSpPr>
          <p:cNvPr id="6" name="Text 4"/>
          <p:cNvSpPr/>
          <p:nvPr/>
        </p:nvSpPr>
        <p:spPr>
          <a:xfrm>
            <a:off x="640080" y="868680"/>
            <a:ext cx="10972800" cy="777240"/>
          </a:xfrm>
          <a:prstGeom prst="rect">
            <a:avLst/>
          </a:prstGeom>
          <a:noFill/>
          <a:ln/>
        </p:spPr>
        <p:txBody>
          <a:bodyPr wrap="square" lIns="0" tIns="0" rIns="0" bIns="0" rtlCol="0" anchor="ctr"/>
          <a:lstStyle/>
          <a:p>
            <a:pPr indent="0" marL="0">
              <a:buNone/>
            </a:pPr>
            <a:r>
              <a:rPr lang="en-US" sz="3200" spc="-100" kern="0" dirty="0">
                <a:solidFill>
                  <a:srgbClr val="EDEAE0"/>
                </a:solidFill>
                <a:latin typeface="Georgia" pitchFamily="34" charset="0"/>
                <a:ea typeface="Georgia" pitchFamily="34" charset="-122"/>
                <a:cs typeface="Georgia" pitchFamily="34" charset="-120"/>
              </a:rPr>
              <a:t>Rule 1: </a:t>
            </a:r>
            <a:pPr indent="0" marL="0">
              <a:buNone/>
            </a:pPr>
            <a:r>
              <a:rPr lang="en-US" sz="3200" i="1" spc="-100" kern="0" dirty="0">
                <a:solidFill>
                  <a:srgbClr val="E8B547"/>
                </a:solidFill>
                <a:latin typeface="Georgia" pitchFamily="34" charset="0"/>
                <a:ea typeface="Georgia" pitchFamily="34" charset="-122"/>
                <a:cs typeface="Georgia" pitchFamily="34" charset="-120"/>
              </a:rPr>
              <a:t>always tell the user what's happening</a:t>
            </a:r>
            <a:pPr indent="0" marL="0">
              <a:buNone/>
            </a:pPr>
            <a:r>
              <a:rPr lang="en-US" sz="3200" spc="-100" kern="0" dirty="0">
                <a:solidFill>
                  <a:srgbClr val="EDEAE0"/>
                </a:solidFill>
                <a:latin typeface="Georgia" pitchFamily="34" charset="0"/>
                <a:ea typeface="Georgia" pitchFamily="34" charset="-122"/>
                <a:cs typeface="Georgia" pitchFamily="34" charset="-120"/>
              </a:rPr>
              <a:t>.</a:t>
            </a:r>
            <a:endParaRPr lang="en-US" sz="3200" dirty="0"/>
          </a:p>
        </p:txBody>
      </p:sp>
      <p:pic>
        <p:nvPicPr>
          <p:cNvPr id="7" name="Image 0" descr="D:\hci\.shots\08-nielsen-modal.png">    </p:cNvPr>
          <p:cNvPicPr>
            <a:picLocks noChangeAspect="1"/>
          </p:cNvPicPr>
          <p:nvPr/>
        </p:nvPicPr>
        <p:blipFill>
          <a:blip r:embed="rId1"/>
          <a:stretch>
            <a:fillRect/>
          </a:stretch>
        </p:blipFill>
        <p:spPr>
          <a:xfrm>
            <a:off x="1051560" y="1783080"/>
            <a:ext cx="10058400" cy="5657850"/>
          </a:xfrm>
          <a:prstGeom prst="rect">
            <a:avLst/>
          </a:prstGeom>
        </p:spPr>
      </p:pic>
      <p:sp>
        <p:nvSpPr>
          <p:cNvPr id="8" name="Text 5"/>
          <p:cNvSpPr/>
          <p:nvPr/>
        </p:nvSpPr>
        <p:spPr>
          <a:xfrm>
            <a:off x="640080" y="7578090"/>
            <a:ext cx="10881360" cy="914400"/>
          </a:xfrm>
          <a:prstGeom prst="rect">
            <a:avLst/>
          </a:prstGeom>
          <a:noFill/>
          <a:ln/>
        </p:spPr>
        <p:txBody>
          <a:bodyPr wrap="square" lIns="0" tIns="0" rIns="0" bIns="0" rtlCol="0" anchor="ctr"/>
          <a:lstStyle/>
          <a:p>
            <a:pPr algn="ctr" indent="0" marL="0">
              <a:buNone/>
            </a:pPr>
            <a:r>
              <a:rPr lang="en-US" sz="1200" i="1" dirty="0">
                <a:solidFill>
                  <a:srgbClr val="EDEAE0"/>
                </a:solidFill>
                <a:latin typeface="Calibri" pitchFamily="34" charset="0"/>
                <a:ea typeface="Calibri" pitchFamily="34" charset="-122"/>
                <a:cs typeface="Calibri" pitchFamily="34" charset="-120"/>
              </a:rPr>
              <a:t>On the LEFT (broken): a SAVE button you click and… nothing visibly happens. Did it work? Is it loading? You don't know. On the RIGHT (fixed): SAVE → tiny spinner → "Saved · 2 seconds ago" appears below. Same button — completely different experience. Multiply this by ten rules and you have twenty mini-UIs.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11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06.A / GOMS · KLM</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GOMS · </a:t>
            </a:r>
            <a:pPr indent="0" marL="0">
              <a:buNone/>
            </a:pPr>
            <a:r>
              <a:rPr lang="en-US" sz="4400" i="1" spc="-100" kern="0" dirty="0">
                <a:solidFill>
                  <a:srgbClr val="E8B547"/>
                </a:solidFill>
                <a:latin typeface="Georgia" pitchFamily="34" charset="0"/>
                <a:ea typeface="Georgia" pitchFamily="34" charset="-122"/>
                <a:cs typeface="Georgia" pitchFamily="34" charset="-120"/>
              </a:rPr>
              <a:t>KLM</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Predict how many seconds your task will take — before you build it.</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Every interaction with software breaks down into 5 tiny operations: pressing a key (K = 0.20s), moving the mouse (P = 1.10s), switching hand from keyboard to mouse (H = 0.40s), pausing to think (M = 1.35s), and waiting for the system to respond (R = ~0.50s). Add them up — that's your task time.</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If your sign-up flow needs 7 keystrokes plus 2 mental pauses, that's about 4 seconds — before the user has even completed it. If a competitor's flow needs 2 seconds, you've already lost. KLM tells you this before you write the code, which is when fixing it is cheap.</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Five operator buttons across the top. Tap any one — a token appears below showing what it added (+0.20s) and the running total (= 0.20s). Build a fake task by tapping operators in sequence. The total at the right grows live.</a:t>
            </a:r>
            <a:endParaRPr lang="en-US" sz="1200" dirty="0"/>
          </a:p>
        </p:txBody>
      </p:sp>
      <p:pic>
        <p:nvPicPr>
          <p:cNvPr id="14" name="Image 0" descr="D:\hci\.shots\09-klm.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12 / 18</a:t>
            </a:r>
            <a:endParaRPr lang="en-US" sz="900" dirty="0"/>
          </a:p>
        </p:txBody>
      </p:sp>
      <p:sp>
        <p:nvSpPr>
          <p:cNvPr id="5" name="Text 3"/>
          <p:cNvSpPr/>
          <p:nvPr/>
        </p:nvSpPr>
        <p:spPr>
          <a:xfrm>
            <a:off x="640080" y="502920"/>
            <a:ext cx="91440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06.B / KLM — A REAL TASK, IN SLOW MOTION</a:t>
            </a:r>
            <a:endParaRPr lang="en-US" sz="1000" dirty="0"/>
          </a:p>
        </p:txBody>
      </p:sp>
      <p:sp>
        <p:nvSpPr>
          <p:cNvPr id="6" name="Text 4"/>
          <p:cNvSpPr/>
          <p:nvPr/>
        </p:nvSpPr>
        <p:spPr>
          <a:xfrm>
            <a:off x="640080" y="868680"/>
            <a:ext cx="10972800" cy="777240"/>
          </a:xfrm>
          <a:prstGeom prst="rect">
            <a:avLst/>
          </a:prstGeom>
          <a:noFill/>
          <a:ln/>
        </p:spPr>
        <p:txBody>
          <a:bodyPr wrap="square" lIns="0" tIns="0" rIns="0" bIns="0" rtlCol="0" anchor="ctr"/>
          <a:lstStyle/>
          <a:p>
            <a:pPr indent="0" marL="0">
              <a:buNone/>
            </a:pPr>
            <a:r>
              <a:rPr lang="en-US" sz="3600" spc="-100" kern="0" dirty="0">
                <a:solidFill>
                  <a:srgbClr val="EDEAE0"/>
                </a:solidFill>
                <a:latin typeface="Georgia" pitchFamily="34" charset="0"/>
                <a:ea typeface="Georgia" pitchFamily="34" charset="-122"/>
                <a:cs typeface="Georgia" pitchFamily="34" charset="-120"/>
              </a:rPr>
              <a:t>Three guided </a:t>
            </a:r>
            <a:pPr indent="0" marL="0">
              <a:buNone/>
            </a:pPr>
            <a:r>
              <a:rPr lang="en-US" sz="3600" i="1" spc="-100" kern="0" dirty="0">
                <a:solidFill>
                  <a:srgbClr val="E8B547"/>
                </a:solidFill>
                <a:latin typeface="Georgia" pitchFamily="34" charset="0"/>
                <a:ea typeface="Georgia" pitchFamily="34" charset="-122"/>
                <a:cs typeface="Georgia" pitchFamily="34" charset="-120"/>
              </a:rPr>
              <a:t>scenarios</a:t>
            </a:r>
            <a:pPr indent="0" marL="0">
              <a:buNone/>
            </a:pPr>
            <a:r>
              <a:rPr lang="en-US" sz="3600" spc="-100" kern="0" dirty="0">
                <a:solidFill>
                  <a:srgbClr val="EDEAE0"/>
                </a:solidFill>
                <a:latin typeface="Georgia" pitchFamily="34" charset="0"/>
                <a:ea typeface="Georgia" pitchFamily="34" charset="-122"/>
                <a:cs typeface="Georgia" pitchFamily="34" charset="-120"/>
              </a:rPr>
              <a:t> you can play.</a:t>
            </a:r>
            <a:endParaRPr lang="en-US" sz="3600" dirty="0"/>
          </a:p>
        </p:txBody>
      </p:sp>
      <p:pic>
        <p:nvPicPr>
          <p:cNvPr id="7" name="Image 0" descr="D:\hci\.shots\10-klm-playing.png">    </p:cNvPr>
          <p:cNvPicPr>
            <a:picLocks noChangeAspect="1"/>
          </p:cNvPicPr>
          <p:nvPr/>
        </p:nvPicPr>
        <p:blipFill>
          <a:blip r:embed="rId1"/>
          <a:stretch>
            <a:fillRect/>
          </a:stretch>
        </p:blipFill>
        <p:spPr>
          <a:xfrm>
            <a:off x="1051560" y="1783080"/>
            <a:ext cx="10058400" cy="5657850"/>
          </a:xfrm>
          <a:prstGeom prst="rect">
            <a:avLst/>
          </a:prstGeom>
        </p:spPr>
      </p:pic>
      <p:sp>
        <p:nvSpPr>
          <p:cNvPr id="8" name="Text 5"/>
          <p:cNvSpPr/>
          <p:nvPr/>
        </p:nvSpPr>
        <p:spPr>
          <a:xfrm>
            <a:off x="640080" y="7578090"/>
            <a:ext cx="10881360" cy="1005840"/>
          </a:xfrm>
          <a:prstGeom prst="rect">
            <a:avLst/>
          </a:prstGeom>
          <a:noFill/>
          <a:ln/>
        </p:spPr>
        <p:txBody>
          <a:bodyPr wrap="square" lIns="0" tIns="0" rIns="0" bIns="0" rtlCol="0" anchor="ctr"/>
          <a:lstStyle/>
          <a:p>
            <a:pPr algn="ctr" indent="0" marL="0">
              <a:buNone/>
            </a:pPr>
            <a:r>
              <a:rPr lang="en-US" sz="1200" i="1" dirty="0">
                <a:solidFill>
                  <a:srgbClr val="EDEAE0"/>
                </a:solidFill>
                <a:latin typeface="Calibri" pitchFamily="34" charset="0"/>
                <a:ea typeface="Calibri" pitchFamily="34" charset="-122"/>
                <a:cs typeface="Calibri" pitchFamily="34" charset="-120"/>
              </a:rPr>
              <a:t>Click "Search HCI on Google" and watch a real task play out one step at a time. Tokens land in the timeline on the left while the explanation panel on the right reads "Step 4 of 7: Type the letter C — that's a keystroke, +0.20s, running total now 2.85s." By the end you can see exactly where the seconds went — and which steps you could remove with smarter design (like one-tap reorder, or autocomplete).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13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07 / COLOUR</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Colour &amp; </a:t>
            </a:r>
            <a:pPr indent="0" marL="0">
              <a:buNone/>
            </a:pPr>
            <a:r>
              <a:rPr lang="en-US" sz="4400" i="1" spc="-100" kern="0" dirty="0">
                <a:solidFill>
                  <a:srgbClr val="E8B547"/>
                </a:solidFill>
                <a:latin typeface="Georgia" pitchFamily="34" charset="0"/>
                <a:ea typeface="Georgia" pitchFamily="34" charset="-122"/>
                <a:cs typeface="Georgia" pitchFamily="34" charset="-120"/>
              </a:rPr>
              <a:t>Contrast</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About 10% of your readers literally cannot see your interface.</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WCAG (the official accessibility standard) demands a contrast ratio of 4.5:1 between text and background — 3:1 for large headings. Below that, people with low vision can't read your site. The ratio is computed from the relative brightness of the two colours.</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It's not a nice-to-have. It's the law in many countries (Europe, parts of the US, India's draft accessibility rules). It costs nothing to fix during design. It costs a lot to fix after launch. The cheapest accessibility win you'll ever get.</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Two colour pickers — foreground and background. The site computes the WCAG ratio in real time and stamps four pass / fail badges (AA / AAA × normal / large text). Drag a colour into a fail and watch the badges flip red.</a:t>
            </a:r>
            <a:endParaRPr lang="en-US" sz="1200" dirty="0"/>
          </a:p>
        </p:txBody>
      </p:sp>
      <p:pic>
        <p:nvPicPr>
          <p:cNvPr id="14" name="Image 0" descr="D:\hci\.shots\11-color.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14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08 / A11Y</a:t>
            </a:r>
            <a:endParaRPr lang="en-US" sz="1000" dirty="0"/>
          </a:p>
        </p:txBody>
      </p:sp>
      <p:sp>
        <p:nvSpPr>
          <p:cNvPr id="6" name="Text 4"/>
          <p:cNvSpPr/>
          <p:nvPr/>
        </p:nvSpPr>
        <p:spPr>
          <a:xfrm>
            <a:off x="640080" y="914400"/>
            <a:ext cx="4937760" cy="868680"/>
          </a:xfrm>
          <a:prstGeom prst="rect">
            <a:avLst/>
          </a:prstGeom>
          <a:noFill/>
          <a:ln/>
        </p:spPr>
        <p:txBody>
          <a:bodyPr wrap="square" lIns="0" tIns="0" rIns="0" bIns="0" rtlCol="0" anchor="ctr"/>
          <a:lstStyle/>
          <a:p>
            <a:pPr indent="0" marL="0">
              <a:buNone/>
            </a:pPr>
            <a:r>
              <a:rPr lang="en-US" sz="4400" spc="-100" kern="0" dirty="0">
                <a:solidFill>
                  <a:srgbClr val="EDEAE0"/>
                </a:solidFill>
                <a:latin typeface="Georgia" pitchFamily="34" charset="0"/>
                <a:ea typeface="Georgia" pitchFamily="34" charset="-122"/>
                <a:cs typeface="Georgia" pitchFamily="34" charset="-120"/>
              </a:rPr>
              <a:t>Accessibility </a:t>
            </a:r>
            <a:pPr indent="0" marL="0">
              <a:buNone/>
            </a:pPr>
            <a:r>
              <a:rPr lang="en-US" sz="4400" i="1" spc="-100" kern="0" dirty="0">
                <a:solidFill>
                  <a:srgbClr val="E8B547"/>
                </a:solidFill>
                <a:latin typeface="Georgia" pitchFamily="34" charset="0"/>
                <a:ea typeface="Georgia" pitchFamily="34" charset="-122"/>
                <a:cs typeface="Georgia" pitchFamily="34" charset="-120"/>
              </a:rPr>
              <a:t>Sim</a:t>
            </a:r>
            <a:endParaRPr lang="en-US" sz="4400" dirty="0"/>
          </a:p>
        </p:txBody>
      </p:sp>
      <p:sp>
        <p:nvSpPr>
          <p:cNvPr id="7" name="Text 5"/>
          <p:cNvSpPr/>
          <p:nvPr/>
        </p:nvSpPr>
        <p:spPr>
          <a:xfrm>
            <a:off x="640080" y="1828800"/>
            <a:ext cx="4937760" cy="457200"/>
          </a:xfrm>
          <a:prstGeom prst="rect">
            <a:avLst/>
          </a:prstGeom>
          <a:noFill/>
          <a:ln/>
        </p:spPr>
        <p:txBody>
          <a:bodyPr wrap="square" lIns="0" tIns="0" rIns="0" bIns="0" rtlCol="0" anchor="ctr"/>
          <a:lstStyle/>
          <a:p>
            <a:pPr indent="0" marL="0">
              <a:buNone/>
            </a:pPr>
            <a:r>
              <a:rPr lang="en-US" sz="1400" i="1" dirty="0">
                <a:solidFill>
                  <a:srgbClr val="E8B547"/>
                </a:solidFill>
                <a:latin typeface="Calibri" pitchFamily="34" charset="0"/>
                <a:ea typeface="Calibri" pitchFamily="34" charset="-122"/>
                <a:cs typeface="Calibri" pitchFamily="34" charset="-120"/>
              </a:rPr>
              <a:t>Become a different user for a minute.</a:t>
            </a:r>
            <a:endParaRPr lang="en-US" sz="1400" dirty="0"/>
          </a:p>
        </p:txBody>
      </p:sp>
      <p:sp>
        <p:nvSpPr>
          <p:cNvPr id="8" name="Text 6"/>
          <p:cNvSpPr/>
          <p:nvPr/>
        </p:nvSpPr>
        <p:spPr>
          <a:xfrm>
            <a:off x="640080" y="246888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WHAT IT SAYS</a:t>
            </a:r>
            <a:endParaRPr lang="en-US" sz="900" dirty="0"/>
          </a:p>
        </p:txBody>
      </p:sp>
      <p:sp>
        <p:nvSpPr>
          <p:cNvPr id="9" name="Text 7"/>
          <p:cNvSpPr/>
          <p:nvPr/>
        </p:nvSpPr>
        <p:spPr>
          <a:xfrm>
            <a:off x="640080" y="274320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Most designers are sighted, hearing, full-mobility, working in good light, with steady hands. Most users, most of the time, are not all of those things. The fastest way to design for everyone is to take away your senses — one by one — and try the interface again.</a:t>
            </a:r>
            <a:endParaRPr lang="en-US" sz="1200" dirty="0"/>
          </a:p>
        </p:txBody>
      </p:sp>
      <p:sp>
        <p:nvSpPr>
          <p:cNvPr id="10" name="Text 8"/>
          <p:cNvSpPr/>
          <p:nvPr/>
        </p:nvSpPr>
        <p:spPr>
          <a:xfrm>
            <a:off x="640080" y="374904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WHY IT MATTERS</a:t>
            </a:r>
            <a:endParaRPr lang="en-US" sz="900" dirty="0"/>
          </a:p>
        </p:txBody>
      </p:sp>
      <p:sp>
        <p:nvSpPr>
          <p:cNvPr id="11" name="Text 9"/>
          <p:cNvSpPr/>
          <p:nvPr/>
        </p:nvSpPr>
        <p:spPr>
          <a:xfrm>
            <a:off x="640080" y="402336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If your form doesn't work with a screen reader, blind users can't sign up. If your error message is red-on-grey only, colour-blind users miss it entirely. These bugs are invisible to you until you simulate them. After 60 seconds in this section, you'll never ship them again.</a:t>
            </a:r>
            <a:endParaRPr lang="en-US" sz="1200" dirty="0"/>
          </a:p>
        </p:txBody>
      </p:sp>
      <p:sp>
        <p:nvSpPr>
          <p:cNvPr id="12" name="Text 10"/>
          <p:cNvSpPr/>
          <p:nvPr/>
        </p:nvSpPr>
        <p:spPr>
          <a:xfrm>
            <a:off x="640080" y="5029200"/>
            <a:ext cx="2743200" cy="228600"/>
          </a:xfrm>
          <a:prstGeom prst="rect">
            <a:avLst/>
          </a:prstGeom>
          <a:noFill/>
          <a:ln/>
        </p:spPr>
        <p:txBody>
          <a:bodyPr wrap="square" lIns="0" tIns="0" rIns="0" bIns="0" rtlCol="0" anchor="ctr"/>
          <a:lstStyle/>
          <a:p>
            <a:pPr indent="0" marL="0">
              <a:buNone/>
            </a:pPr>
            <a:r>
              <a:rPr lang="en-US" sz="900" spc="400" kern="0" dirty="0">
                <a:solidFill>
                  <a:srgbClr val="E8B547"/>
                </a:solidFill>
                <a:latin typeface="Consolas" pitchFamily="34" charset="0"/>
                <a:ea typeface="Consolas" pitchFamily="34" charset="-122"/>
                <a:cs typeface="Consolas" pitchFamily="34" charset="-120"/>
              </a:rPr>
              <a:t>IN THE DEMO</a:t>
            </a:r>
            <a:endParaRPr lang="en-US" sz="900" dirty="0"/>
          </a:p>
        </p:txBody>
      </p:sp>
      <p:sp>
        <p:nvSpPr>
          <p:cNvPr id="13" name="Text 11"/>
          <p:cNvSpPr/>
          <p:nvPr/>
        </p:nvSpPr>
        <p:spPr>
          <a:xfrm>
            <a:off x="640080" y="5303520"/>
            <a:ext cx="4937760" cy="1005840"/>
          </a:xfrm>
          <a:prstGeom prst="rect">
            <a:avLst/>
          </a:prstGeom>
          <a:noFill/>
          <a:ln/>
        </p:spPr>
        <p:txBody>
          <a:bodyPr wrap="square" lIns="0" tIns="0" rIns="0" bIns="0" rtlCol="0" anchor="ctr"/>
          <a:lstStyle/>
          <a:p>
            <a:pPr indent="0" marL="0">
              <a:buNone/>
            </a:pPr>
            <a:r>
              <a:rPr lang="en-US" sz="1200" dirty="0">
                <a:solidFill>
                  <a:srgbClr val="EDEAE0"/>
                </a:solidFill>
                <a:latin typeface="Calibri" pitchFamily="34" charset="0"/>
                <a:ea typeface="Calibri" pitchFamily="34" charset="-122"/>
                <a:cs typeface="Calibri" pitchFamily="34" charset="-120"/>
              </a:rPr>
              <a:t>Four toggles. Screen-reader narration speaks each label aloud through your speakers — actually uses the browser's Speech Synthesis API. High contrast strips colour. Reduce motion cancels animations. Colour-blind filter shows a protanope view. Toggle each and tab through the form.</a:t>
            </a:r>
            <a:endParaRPr lang="en-US" sz="1200" dirty="0"/>
          </a:p>
        </p:txBody>
      </p:sp>
      <p:pic>
        <p:nvPicPr>
          <p:cNvPr id="14" name="Image 0" descr="D:\hci\.shots\12-a11y.png">    </p:cNvPr>
          <p:cNvPicPr>
            <a:picLocks noChangeAspect="1"/>
          </p:cNvPicPr>
          <p:nvPr/>
        </p:nvPicPr>
        <p:blipFill>
          <a:blip r:embed="rId1"/>
          <a:stretch>
            <a:fillRect/>
          </a:stretch>
        </p:blipFill>
        <p:spPr>
          <a:xfrm>
            <a:off x="5669280" y="1731645"/>
            <a:ext cx="6035040" cy="33947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15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AN HONEST AUDIT</a:t>
            </a:r>
            <a:endParaRPr lang="en-US" sz="1000" dirty="0"/>
          </a:p>
        </p:txBody>
      </p:sp>
      <p:sp>
        <p:nvSpPr>
          <p:cNvPr id="6" name="Text 4"/>
          <p:cNvSpPr/>
          <p:nvPr/>
        </p:nvSpPr>
        <p:spPr>
          <a:xfrm>
            <a:off x="640080" y="868680"/>
            <a:ext cx="10972800" cy="914400"/>
          </a:xfrm>
          <a:prstGeom prst="rect">
            <a:avLst/>
          </a:prstGeom>
          <a:noFill/>
          <a:ln/>
        </p:spPr>
        <p:txBody>
          <a:bodyPr wrap="square" lIns="0" tIns="0" rIns="0" bIns="0" rtlCol="0" anchor="ctr"/>
          <a:lstStyle/>
          <a:p>
            <a:pPr indent="0" marL="0">
              <a:buNone/>
            </a:pPr>
            <a:r>
              <a:rPr lang="en-US" sz="3600" spc="-100" kern="0" dirty="0">
                <a:solidFill>
                  <a:srgbClr val="EDEAE0"/>
                </a:solidFill>
                <a:latin typeface="Georgia" pitchFamily="34" charset="0"/>
                <a:ea typeface="Georgia" pitchFamily="34" charset="-122"/>
                <a:cs typeface="Georgia" pitchFamily="34" charset="-120"/>
              </a:rPr>
              <a:t>Does the site </a:t>
            </a:r>
            <a:pPr indent="0" marL="0">
              <a:buNone/>
            </a:pPr>
            <a:r>
              <a:rPr lang="en-US" sz="3600" i="1" spc="-100" kern="0" dirty="0">
                <a:solidFill>
                  <a:srgbClr val="E8B547"/>
                </a:solidFill>
                <a:latin typeface="Georgia" pitchFamily="34" charset="0"/>
                <a:ea typeface="Georgia" pitchFamily="34" charset="-122"/>
                <a:cs typeface="Georgia" pitchFamily="34" charset="-120"/>
              </a:rPr>
              <a:t>practise</a:t>
            </a:r>
            <a:pPr indent="0" marL="0">
              <a:buNone/>
            </a:pPr>
            <a:r>
              <a:rPr lang="en-US" sz="3600" spc="-100" kern="0" dirty="0">
                <a:solidFill>
                  <a:srgbClr val="EDEAE0"/>
                </a:solidFill>
                <a:latin typeface="Georgia" pitchFamily="34" charset="0"/>
                <a:ea typeface="Georgia" pitchFamily="34" charset="-122"/>
                <a:cs typeface="Georgia" pitchFamily="34" charset="-120"/>
              </a:rPr>
              <a:t> what it teaches?</a:t>
            </a:r>
            <a:endParaRPr lang="en-US" sz="3600" dirty="0"/>
          </a:p>
        </p:txBody>
      </p:sp>
      <p:sp>
        <p:nvSpPr>
          <p:cNvPr id="7" name="Text 5"/>
          <p:cNvSpPr/>
          <p:nvPr/>
        </p:nvSpPr>
        <p:spPr>
          <a:xfrm>
            <a:off x="640080" y="1828800"/>
            <a:ext cx="10972800" cy="365760"/>
          </a:xfrm>
          <a:prstGeom prst="rect">
            <a:avLst/>
          </a:prstGeom>
          <a:noFill/>
          <a:ln/>
        </p:spPr>
        <p:txBody>
          <a:bodyPr wrap="square" lIns="0" tIns="0" rIns="0" bIns="0" rtlCol="0" anchor="ctr"/>
          <a:lstStyle/>
          <a:p>
            <a:pPr indent="0" marL="0">
              <a:buNone/>
            </a:pPr>
            <a:r>
              <a:rPr lang="en-US" sz="1400" i="1" dirty="0">
                <a:solidFill>
                  <a:srgbClr val="BCB5A6"/>
                </a:solidFill>
                <a:latin typeface="Calibri" pitchFamily="34" charset="0"/>
                <a:ea typeface="Calibri" pitchFamily="34" charset="-122"/>
                <a:cs typeface="Calibri" pitchFamily="34" charset="-120"/>
              </a:rPr>
              <a:t>Honest answer — only partially. Here's the audit, before and after I fixed it.</a:t>
            </a:r>
            <a:endParaRPr lang="en-US" sz="1400" dirty="0"/>
          </a:p>
        </p:txBody>
      </p:sp>
      <p:sp>
        <p:nvSpPr>
          <p:cNvPr id="8" name="Text 6"/>
          <p:cNvSpPr/>
          <p:nvPr/>
        </p:nvSpPr>
        <p:spPr>
          <a:xfrm>
            <a:off x="640080" y="2377440"/>
            <a:ext cx="5486400" cy="274320"/>
          </a:xfrm>
          <a:prstGeom prst="rect">
            <a:avLst/>
          </a:prstGeom>
          <a:noFill/>
          <a:ln/>
        </p:spPr>
        <p:txBody>
          <a:bodyPr wrap="square" lIns="0" tIns="0" rIns="0" bIns="0" rtlCol="0" anchor="ctr"/>
          <a:lstStyle/>
          <a:p>
            <a:pPr indent="0" marL="0">
              <a:buNone/>
            </a:pPr>
            <a:r>
              <a:rPr lang="en-US" sz="1000" spc="400" kern="0" dirty="0">
                <a:solidFill>
                  <a:srgbClr val="5DBFA9"/>
                </a:solidFill>
                <a:latin typeface="Consolas" pitchFamily="34" charset="0"/>
                <a:ea typeface="Consolas" pitchFamily="34" charset="-122"/>
                <a:cs typeface="Consolas" pitchFamily="34" charset="-120"/>
              </a:rPr>
              <a:t>WHAT IT GOT RIGHT</a:t>
            </a:r>
            <a:endParaRPr lang="en-US" sz="1000" dirty="0"/>
          </a:p>
        </p:txBody>
      </p:sp>
      <p:sp>
        <p:nvSpPr>
          <p:cNvPr id="9" name="Text 7"/>
          <p:cNvSpPr/>
          <p:nvPr/>
        </p:nvSpPr>
        <p:spPr>
          <a:xfrm>
            <a:off x="640080" y="2743200"/>
            <a:ext cx="5486400" cy="3657600"/>
          </a:xfrm>
          <a:prstGeom prst="rect">
            <a:avLst/>
          </a:prstGeom>
          <a:noFill/>
          <a:ln/>
        </p:spPr>
        <p:txBody>
          <a:bodyPr wrap="square" lIns="0" tIns="0" rIns="0" bIns="0" rtlCol="0" anchor="ctr"/>
          <a:lstStyle/>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Sections grouped clearly with consistent card layouts.</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KLM operator buttons show name, cost, and a real example — no need to memorise.</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Every button gives a visible click response within milliseconds.</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Restrained palette, one demo per section — no clutter.</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Every tool has a one-line caption explaining what it does.</a:t>
            </a:r>
            <a:endParaRPr lang="en-US" sz="1200" dirty="0"/>
          </a:p>
        </p:txBody>
      </p:sp>
      <p:sp>
        <p:nvSpPr>
          <p:cNvPr id="10" name="Text 8"/>
          <p:cNvSpPr/>
          <p:nvPr/>
        </p:nvSpPr>
        <p:spPr>
          <a:xfrm>
            <a:off x="6400800" y="2377440"/>
            <a:ext cx="5486400" cy="274320"/>
          </a:xfrm>
          <a:prstGeom prst="rect">
            <a:avLst/>
          </a:prstGeom>
          <a:noFill/>
          <a:ln/>
        </p:spPr>
        <p:txBody>
          <a:bodyPr wrap="square" lIns="0" tIns="0" rIns="0" bIns="0" rtlCol="0" anchor="ctr"/>
          <a:lstStyle/>
          <a:p>
            <a:pPr indent="0" marL="0">
              <a:buNone/>
            </a:pPr>
            <a:r>
              <a:rPr lang="en-US" sz="1000" spc="400" kern="0" dirty="0">
                <a:solidFill>
                  <a:srgbClr val="E97070"/>
                </a:solidFill>
                <a:latin typeface="Consolas" pitchFamily="34" charset="0"/>
                <a:ea typeface="Consolas" pitchFamily="34" charset="-122"/>
                <a:cs typeface="Consolas" pitchFamily="34" charset="-120"/>
              </a:rPr>
              <a:t>WHAT IT GOT WRONG</a:t>
            </a:r>
            <a:endParaRPr lang="en-US" sz="1000" dirty="0"/>
          </a:p>
        </p:txBody>
      </p:sp>
      <p:sp>
        <p:nvSpPr>
          <p:cNvPr id="11" name="Text 9"/>
          <p:cNvSpPr/>
          <p:nvPr/>
        </p:nvSpPr>
        <p:spPr>
          <a:xfrm>
            <a:off x="6400800" y="2743200"/>
            <a:ext cx="5486400" cy="3657600"/>
          </a:xfrm>
          <a:prstGeom prst="rect">
            <a:avLst/>
          </a:prstGeom>
          <a:noFill/>
          <a:ln/>
        </p:spPr>
        <p:txBody>
          <a:bodyPr wrap="square" lIns="0" tIns="0" rIns="0" bIns="0" rtlCol="0" anchor="ctr"/>
          <a:lstStyle/>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Top nav was 8 cramped tiny links — exactly what Fitts's Law says to avoid.</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Same nav had 8 flat choices — which is what Hick's Law says is slow.</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While scrolling, you couldn't tell which section you were in (no active highlight).</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Pressing Esc didn't close any modal dialog (broke user-control rule).</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Three different numbering systems (§, FIG., H) — broke the consistency rule.</a:t>
            </a:r>
            <a:endParaRPr lang="en-US" sz="1200" dirty="0"/>
          </a:p>
          <a:p>
            <a:pPr indent="0" marL="0">
              <a:spcAft>
                <a:spcPts val="800"/>
              </a:spcAft>
              <a:buNone/>
            </a:pPr>
            <a:r>
              <a:rPr lang="en-US" sz="1200" dirty="0">
                <a:solidFill>
                  <a:srgbClr val="EDEAE0"/>
                </a:solidFill>
                <a:latin typeface="Calibri" pitchFamily="34" charset="0"/>
                <a:ea typeface="Calibri" pitchFamily="34" charset="-122"/>
                <a:cs typeface="Calibri" pitchFamily="34" charset="-120"/>
              </a:rPr>
              <a:t>✗  Body text contrast was 6.5:1 — fails the AAA standard the site itself was teaching.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16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FIVE THINGS I FIXED</a:t>
            </a:r>
            <a:endParaRPr lang="en-US" sz="1000" dirty="0"/>
          </a:p>
        </p:txBody>
      </p:sp>
      <p:sp>
        <p:nvSpPr>
          <p:cNvPr id="6" name="Text 4"/>
          <p:cNvSpPr/>
          <p:nvPr/>
        </p:nvSpPr>
        <p:spPr>
          <a:xfrm>
            <a:off x="640080" y="868680"/>
            <a:ext cx="10972800" cy="914400"/>
          </a:xfrm>
          <a:prstGeom prst="rect">
            <a:avLst/>
          </a:prstGeom>
          <a:noFill/>
          <a:ln/>
        </p:spPr>
        <p:txBody>
          <a:bodyPr wrap="square" lIns="0" tIns="0" rIns="0" bIns="0" rtlCol="0" anchor="ctr"/>
          <a:lstStyle/>
          <a:p>
            <a:pPr indent="0" marL="0">
              <a:buNone/>
            </a:pPr>
            <a:r>
              <a:rPr lang="en-US" sz="4000" spc="-100" kern="0" dirty="0">
                <a:solidFill>
                  <a:srgbClr val="EDEAE0"/>
                </a:solidFill>
                <a:latin typeface="Georgia" pitchFamily="34" charset="0"/>
                <a:ea typeface="Georgia" pitchFamily="34" charset="-122"/>
                <a:cs typeface="Georgia" pitchFamily="34" charset="-120"/>
              </a:rPr>
              <a:t>Then I </a:t>
            </a:r>
            <a:pPr indent="0" marL="0">
              <a:buNone/>
            </a:pPr>
            <a:r>
              <a:rPr lang="en-US" sz="4000" i="1" spc="-100" kern="0" dirty="0">
                <a:solidFill>
                  <a:srgbClr val="E8B547"/>
                </a:solidFill>
                <a:latin typeface="Georgia" pitchFamily="34" charset="0"/>
                <a:ea typeface="Georgia" pitchFamily="34" charset="-122"/>
                <a:cs typeface="Georgia" pitchFamily="34" charset="-120"/>
              </a:rPr>
              <a:t>fixed</a:t>
            </a:r>
            <a:pPr indent="0" marL="0">
              <a:buNone/>
            </a:pPr>
            <a:r>
              <a:rPr lang="en-US" sz="4000" spc="-100" kern="0" dirty="0">
                <a:solidFill>
                  <a:srgbClr val="EDEAE0"/>
                </a:solidFill>
                <a:latin typeface="Georgia" pitchFamily="34" charset="0"/>
                <a:ea typeface="Georgia" pitchFamily="34" charset="-122"/>
                <a:cs typeface="Georgia" pitchFamily="34" charset="-120"/>
              </a:rPr>
              <a:t> the lab.</a:t>
            </a:r>
            <a:endParaRPr lang="en-US" sz="4000" dirty="0"/>
          </a:p>
        </p:txBody>
      </p:sp>
      <p:pic>
        <p:nvPicPr>
          <p:cNvPr id="7" name="Image 0" descr="D:\hci\.shots\13-shortcuts.png">    </p:cNvPr>
          <p:cNvPicPr>
            <a:picLocks noChangeAspect="1"/>
          </p:cNvPicPr>
          <p:nvPr/>
        </p:nvPicPr>
        <p:blipFill>
          <a:blip r:embed="rId1"/>
          <a:stretch>
            <a:fillRect/>
          </a:stretch>
        </p:blipFill>
        <p:spPr>
          <a:xfrm>
            <a:off x="6858000" y="2194560"/>
            <a:ext cx="4937760" cy="2777490"/>
          </a:xfrm>
          <a:prstGeom prst="rect">
            <a:avLst/>
          </a:prstGeom>
        </p:spPr>
      </p:pic>
      <p:sp>
        <p:nvSpPr>
          <p:cNvPr id="8" name="Text 5"/>
          <p:cNvSpPr/>
          <p:nvPr/>
        </p:nvSpPr>
        <p:spPr>
          <a:xfrm>
            <a:off x="6858000" y="5017770"/>
            <a:ext cx="4937760" cy="274320"/>
          </a:xfrm>
          <a:prstGeom prst="rect">
            <a:avLst/>
          </a:prstGeom>
          <a:noFill/>
          <a:ln/>
        </p:spPr>
        <p:txBody>
          <a:bodyPr wrap="square" lIns="0" tIns="0" rIns="0" bIns="0" rtlCol="0" anchor="ctr"/>
          <a:lstStyle/>
          <a:p>
            <a:pPr algn="ctr" indent="0" marL="0">
              <a:buNone/>
            </a:pPr>
            <a:r>
              <a:rPr lang="en-US" sz="900" i="1" spc="100" kern="0" dirty="0">
                <a:solidFill>
                  <a:srgbClr val="BCB5A6"/>
                </a:solidFill>
                <a:latin typeface="Consolas" pitchFamily="34" charset="0"/>
                <a:ea typeface="Consolas" pitchFamily="34" charset="-122"/>
                <a:cs typeface="Consolas" pitchFamily="34" charset="-120"/>
              </a:rPr>
              <a:t>the new keyboard-shortcuts overlay</a:t>
            </a:r>
            <a:endParaRPr lang="en-US" sz="900" dirty="0"/>
          </a:p>
        </p:txBody>
      </p:sp>
      <p:sp>
        <p:nvSpPr>
          <p:cNvPr id="9" name="Text 6"/>
          <p:cNvSpPr/>
          <p:nvPr/>
        </p:nvSpPr>
        <p:spPr>
          <a:xfrm>
            <a:off x="640080" y="219456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01</a:t>
            </a:r>
            <a:endParaRPr lang="en-US" sz="1100" dirty="0"/>
          </a:p>
        </p:txBody>
      </p:sp>
      <p:sp>
        <p:nvSpPr>
          <p:cNvPr id="10" name="Text 7"/>
          <p:cNvSpPr/>
          <p:nvPr/>
        </p:nvSpPr>
        <p:spPr>
          <a:xfrm>
            <a:off x="1097280" y="2194560"/>
            <a:ext cx="5212080" cy="274320"/>
          </a:xfrm>
          <a:prstGeom prst="rect">
            <a:avLst/>
          </a:prstGeom>
          <a:noFill/>
          <a:ln/>
        </p:spPr>
        <p:txBody>
          <a:bodyPr wrap="square" lIns="0" tIns="0" rIns="0" bIns="0" rtlCol="0" anchor="ctr"/>
          <a:lstStyle/>
          <a:p>
            <a:pPr indent="0" marL="0">
              <a:buNone/>
            </a:pPr>
            <a:r>
              <a:rPr lang="en-US" sz="1700" i="1" dirty="0">
                <a:solidFill>
                  <a:srgbClr val="EDEAE0"/>
                </a:solidFill>
                <a:latin typeface="Georgia" pitchFamily="34" charset="0"/>
                <a:ea typeface="Georgia" pitchFamily="34" charset="-122"/>
                <a:cs typeface="Georgia" pitchFamily="34" charset="-120"/>
              </a:rPr>
              <a:t>Fixed the cramped top nav</a:t>
            </a:r>
            <a:endParaRPr lang="en-US" sz="1700" dirty="0"/>
          </a:p>
        </p:txBody>
      </p:sp>
      <p:sp>
        <p:nvSpPr>
          <p:cNvPr id="11" name="Text 8"/>
          <p:cNvSpPr/>
          <p:nvPr/>
        </p:nvSpPr>
        <p:spPr>
          <a:xfrm>
            <a:off x="1097280" y="248716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Grouped 8 links into 4 buckets — Laws, Form, Process, Quality. Bigger hit targets, with the current section now highlighted as you scroll.</a:t>
            </a:r>
            <a:endParaRPr lang="en-US" sz="1100" dirty="0"/>
          </a:p>
        </p:txBody>
      </p:sp>
      <p:sp>
        <p:nvSpPr>
          <p:cNvPr id="12" name="Text 9"/>
          <p:cNvSpPr/>
          <p:nvPr/>
        </p:nvSpPr>
        <p:spPr>
          <a:xfrm>
            <a:off x="640080" y="297180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02</a:t>
            </a:r>
            <a:endParaRPr lang="en-US" sz="1100" dirty="0"/>
          </a:p>
        </p:txBody>
      </p:sp>
      <p:sp>
        <p:nvSpPr>
          <p:cNvPr id="13" name="Text 10"/>
          <p:cNvSpPr/>
          <p:nvPr/>
        </p:nvSpPr>
        <p:spPr>
          <a:xfrm>
            <a:off x="1097280" y="2971800"/>
            <a:ext cx="5212080" cy="274320"/>
          </a:xfrm>
          <a:prstGeom prst="rect">
            <a:avLst/>
          </a:prstGeom>
          <a:noFill/>
          <a:ln/>
        </p:spPr>
        <p:txBody>
          <a:bodyPr wrap="square" lIns="0" tIns="0" rIns="0" bIns="0" rtlCol="0" anchor="ctr"/>
          <a:lstStyle/>
          <a:p>
            <a:pPr indent="0" marL="0">
              <a:buNone/>
            </a:pPr>
            <a:r>
              <a:rPr lang="en-US" sz="1700" i="1" dirty="0">
                <a:solidFill>
                  <a:srgbClr val="EDEAE0"/>
                </a:solidFill>
                <a:latin typeface="Georgia" pitchFamily="34" charset="0"/>
                <a:ea typeface="Georgia" pitchFamily="34" charset="-122"/>
                <a:cs typeface="Georgia" pitchFamily="34" charset="-120"/>
              </a:rPr>
              <a:t>Added keyboard shortcuts</a:t>
            </a:r>
            <a:endParaRPr lang="en-US" sz="1700" dirty="0"/>
          </a:p>
        </p:txBody>
      </p:sp>
      <p:sp>
        <p:nvSpPr>
          <p:cNvPr id="14" name="Text 11"/>
          <p:cNvSpPr/>
          <p:nvPr/>
        </p:nvSpPr>
        <p:spPr>
          <a:xfrm>
            <a:off x="1097280" y="326440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Press Esc to close any dialog · ? to see the shortcut list · "g" then a letter to jump to a section · "t" to scroll back to top.</a:t>
            </a:r>
            <a:endParaRPr lang="en-US" sz="1100" dirty="0"/>
          </a:p>
        </p:txBody>
      </p:sp>
      <p:sp>
        <p:nvSpPr>
          <p:cNvPr id="15" name="Text 12"/>
          <p:cNvSpPr/>
          <p:nvPr/>
        </p:nvSpPr>
        <p:spPr>
          <a:xfrm>
            <a:off x="640080" y="374904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03</a:t>
            </a:r>
            <a:endParaRPr lang="en-US" sz="1100" dirty="0"/>
          </a:p>
        </p:txBody>
      </p:sp>
      <p:sp>
        <p:nvSpPr>
          <p:cNvPr id="16" name="Text 13"/>
          <p:cNvSpPr/>
          <p:nvPr/>
        </p:nvSpPr>
        <p:spPr>
          <a:xfrm>
            <a:off x="1097280" y="3749040"/>
            <a:ext cx="5212080" cy="274320"/>
          </a:xfrm>
          <a:prstGeom prst="rect">
            <a:avLst/>
          </a:prstGeom>
          <a:noFill/>
          <a:ln/>
        </p:spPr>
        <p:txBody>
          <a:bodyPr wrap="square" lIns="0" tIns="0" rIns="0" bIns="0" rtlCol="0" anchor="ctr"/>
          <a:lstStyle/>
          <a:p>
            <a:pPr indent="0" marL="0">
              <a:buNone/>
            </a:pPr>
            <a:r>
              <a:rPr lang="en-US" sz="1700" i="1" dirty="0">
                <a:solidFill>
                  <a:srgbClr val="EDEAE0"/>
                </a:solidFill>
                <a:latin typeface="Georgia" pitchFamily="34" charset="0"/>
                <a:ea typeface="Georgia" pitchFamily="34" charset="-122"/>
                <a:cs typeface="Georgia" pitchFamily="34" charset="-120"/>
              </a:rPr>
              <a:t>Added a back-to-top button</a:t>
            </a:r>
            <a:endParaRPr lang="en-US" sz="1700" dirty="0"/>
          </a:p>
        </p:txBody>
      </p:sp>
      <p:sp>
        <p:nvSpPr>
          <p:cNvPr id="17" name="Text 14"/>
          <p:cNvSpPr/>
          <p:nvPr/>
        </p:nvSpPr>
        <p:spPr>
          <a:xfrm>
            <a:off x="1097280" y="404164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A small floating button appears once you've scrolled. One click sends you back up — no more endless mouse-wheeling.</a:t>
            </a:r>
            <a:endParaRPr lang="en-US" sz="1100" dirty="0"/>
          </a:p>
        </p:txBody>
      </p:sp>
      <p:sp>
        <p:nvSpPr>
          <p:cNvPr id="18" name="Text 15"/>
          <p:cNvSpPr/>
          <p:nvPr/>
        </p:nvSpPr>
        <p:spPr>
          <a:xfrm>
            <a:off x="640080" y="452628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04</a:t>
            </a:r>
            <a:endParaRPr lang="en-US" sz="1100" dirty="0"/>
          </a:p>
        </p:txBody>
      </p:sp>
      <p:sp>
        <p:nvSpPr>
          <p:cNvPr id="19" name="Text 16"/>
          <p:cNvSpPr/>
          <p:nvPr/>
        </p:nvSpPr>
        <p:spPr>
          <a:xfrm>
            <a:off x="1097280" y="4526280"/>
            <a:ext cx="5212080" cy="274320"/>
          </a:xfrm>
          <a:prstGeom prst="rect">
            <a:avLst/>
          </a:prstGeom>
          <a:noFill/>
          <a:ln/>
        </p:spPr>
        <p:txBody>
          <a:bodyPr wrap="square" lIns="0" tIns="0" rIns="0" bIns="0" rtlCol="0" anchor="ctr"/>
          <a:lstStyle/>
          <a:p>
            <a:pPr indent="0" marL="0">
              <a:buNone/>
            </a:pPr>
            <a:r>
              <a:rPr lang="en-US" sz="1700" i="1" dirty="0">
                <a:solidFill>
                  <a:srgbClr val="EDEAE0"/>
                </a:solidFill>
                <a:latin typeface="Georgia" pitchFamily="34" charset="0"/>
                <a:ea typeface="Georgia" pitchFamily="34" charset="-122"/>
                <a:cs typeface="Georgia" pitchFamily="34" charset="-120"/>
              </a:rPr>
              <a:t>Bumped text contrast to AAA</a:t>
            </a:r>
            <a:endParaRPr lang="en-US" sz="1700" dirty="0"/>
          </a:p>
        </p:txBody>
      </p:sp>
      <p:sp>
        <p:nvSpPr>
          <p:cNvPr id="20" name="Text 17"/>
          <p:cNvSpPr/>
          <p:nvPr/>
        </p:nvSpPr>
        <p:spPr>
          <a:xfrm>
            <a:off x="1097280" y="481888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Changed the muted-grey text from #A39E92 to #BCB5A6. Now passes WCAG AAA at 9.6:1 — was 6.5:1 before, which the site itself was flagging as a fail.</a:t>
            </a:r>
            <a:endParaRPr lang="en-US" sz="1100" dirty="0"/>
          </a:p>
        </p:txBody>
      </p:sp>
      <p:sp>
        <p:nvSpPr>
          <p:cNvPr id="21" name="Text 18"/>
          <p:cNvSpPr/>
          <p:nvPr/>
        </p:nvSpPr>
        <p:spPr>
          <a:xfrm>
            <a:off x="640080" y="5303520"/>
            <a:ext cx="457200" cy="320040"/>
          </a:xfrm>
          <a:prstGeom prst="rect">
            <a:avLst/>
          </a:prstGeom>
          <a:noFill/>
          <a:ln/>
        </p:spPr>
        <p:txBody>
          <a:bodyPr wrap="square" lIns="0" tIns="0" rIns="0" bIns="0" rtlCol="0" anchor="ctr"/>
          <a:lstStyle/>
          <a:p>
            <a:pPr indent="0" marL="0">
              <a:buNone/>
            </a:pPr>
            <a:r>
              <a:rPr lang="en-US" sz="1100" spc="200" kern="0" dirty="0">
                <a:solidFill>
                  <a:srgbClr val="E8B547"/>
                </a:solidFill>
                <a:latin typeface="Consolas" pitchFamily="34" charset="0"/>
                <a:ea typeface="Consolas" pitchFamily="34" charset="-122"/>
                <a:cs typeface="Consolas" pitchFamily="34" charset="-120"/>
              </a:rPr>
              <a:t>05</a:t>
            </a:r>
            <a:endParaRPr lang="en-US" sz="1100" dirty="0"/>
          </a:p>
        </p:txBody>
      </p:sp>
      <p:sp>
        <p:nvSpPr>
          <p:cNvPr id="22" name="Text 19"/>
          <p:cNvSpPr/>
          <p:nvPr/>
        </p:nvSpPr>
        <p:spPr>
          <a:xfrm>
            <a:off x="1097280" y="5303520"/>
            <a:ext cx="5212080" cy="274320"/>
          </a:xfrm>
          <a:prstGeom prst="rect">
            <a:avLst/>
          </a:prstGeom>
          <a:noFill/>
          <a:ln/>
        </p:spPr>
        <p:txBody>
          <a:bodyPr wrap="square" lIns="0" tIns="0" rIns="0" bIns="0" rtlCol="0" anchor="ctr"/>
          <a:lstStyle/>
          <a:p>
            <a:pPr indent="0" marL="0">
              <a:buNone/>
            </a:pPr>
            <a:r>
              <a:rPr lang="en-US" sz="1700" i="1" dirty="0">
                <a:solidFill>
                  <a:srgbClr val="EDEAE0"/>
                </a:solidFill>
                <a:latin typeface="Georgia" pitchFamily="34" charset="0"/>
                <a:ea typeface="Georgia" pitchFamily="34" charset="-122"/>
                <a:cs typeface="Georgia" pitchFamily="34" charset="-120"/>
              </a:rPr>
              <a:t>Unified the numbering</a:t>
            </a:r>
            <a:endParaRPr lang="en-US" sz="1700" dirty="0"/>
          </a:p>
        </p:txBody>
      </p:sp>
      <p:sp>
        <p:nvSpPr>
          <p:cNvPr id="23" name="Text 20"/>
          <p:cNvSpPr/>
          <p:nvPr/>
        </p:nvSpPr>
        <p:spPr>
          <a:xfrm>
            <a:off x="1097280" y="5596128"/>
            <a:ext cx="5212080" cy="457200"/>
          </a:xfrm>
          <a:prstGeom prst="rect">
            <a:avLst/>
          </a:prstGeom>
          <a:noFill/>
          <a:ln/>
        </p:spPr>
        <p:txBody>
          <a:bodyPr wrap="square" lIns="0" tIns="0" rIns="0" bIns="0" rtlCol="0" anchor="ctr"/>
          <a:lstStyle/>
          <a:p>
            <a:pPr indent="0" marL="0">
              <a:buNone/>
            </a:pPr>
            <a:r>
              <a:rPr lang="en-US" sz="1100" dirty="0">
                <a:solidFill>
                  <a:srgbClr val="BCB5A6"/>
                </a:solidFill>
                <a:latin typeface="Calibri" pitchFamily="34" charset="0"/>
                <a:ea typeface="Calibri" pitchFamily="34" charset="-122"/>
                <a:cs typeface="Calibri" pitchFamily="34" charset="-120"/>
              </a:rPr>
              <a:t>Replaced three different markers (§, FIG., H) with one — § for everything. Sections are § 01, figures are § 1.1, heuristics are § 5.01. One language, one system.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E8B547"/>
          </a:solidFill>
          <a:ln/>
        </p:spPr>
      </p:sp>
      <p:sp>
        <p:nvSpPr>
          <p:cNvPr id="3" name="Text 1"/>
          <p:cNvSpPr/>
          <p:nvPr/>
        </p:nvSpPr>
        <p:spPr>
          <a:xfrm>
            <a:off x="457200" y="6492240"/>
            <a:ext cx="5486400" cy="274320"/>
          </a:xfrm>
          <a:prstGeom prst="rect">
            <a:avLst/>
          </a:prstGeom>
          <a:noFill/>
          <a:ln/>
        </p:spPr>
        <p:txBody>
          <a:bodyPr wrap="square" lIns="0" tIns="0" rIns="0" bIns="0" rtlCol="0" anchor="ctr"/>
          <a:lstStyle/>
          <a:p>
            <a:pPr indent="0" marL="0">
              <a:buNone/>
            </a:pPr>
            <a:r>
              <a:rPr lang="en-US" sz="900" spc="300" kern="0" dirty="0">
                <a:solidFill>
                  <a:srgbClr val="BCB5A6"/>
                </a:solidFill>
                <a:latin typeface="Consolas" pitchFamily="34" charset="0"/>
                <a:ea typeface="Consolas" pitchFamily="34" charset="-122"/>
                <a:cs typeface="Consolas" pitchFamily="34" charset="-120"/>
              </a:rPr>
              <a:t>FIELD LAB · HCI 06.103.115</a:t>
            </a:r>
            <a:endParaRPr lang="en-US" sz="900" dirty="0"/>
          </a:p>
        </p:txBody>
      </p:sp>
      <p:sp>
        <p:nvSpPr>
          <p:cNvPr id="4" name="Text 2"/>
          <p:cNvSpPr/>
          <p:nvPr/>
        </p:nvSpPr>
        <p:spPr>
          <a:xfrm>
            <a:off x="10698480" y="6492240"/>
            <a:ext cx="1005840" cy="274320"/>
          </a:xfrm>
          <a:prstGeom prst="rect">
            <a:avLst/>
          </a:prstGeom>
          <a:noFill/>
          <a:ln/>
        </p:spPr>
        <p:txBody>
          <a:bodyPr wrap="square" lIns="0" tIns="0" rIns="0" bIns="0" rtlCol="0" anchor="ctr"/>
          <a:lstStyle/>
          <a:p>
            <a:pPr algn="r" indent="0" marL="0">
              <a:buNone/>
            </a:pPr>
            <a:r>
              <a:rPr lang="en-US" sz="900" dirty="0">
                <a:solidFill>
                  <a:srgbClr val="BCB5A6"/>
                </a:solidFill>
                <a:latin typeface="Consolas" pitchFamily="34" charset="0"/>
                <a:ea typeface="Consolas" pitchFamily="34" charset="-122"/>
                <a:cs typeface="Consolas" pitchFamily="34" charset="-120"/>
              </a:rPr>
              <a:t>17 / 18</a:t>
            </a:r>
            <a:endParaRPr lang="en-US" sz="900" dirty="0"/>
          </a:p>
        </p:txBody>
      </p:sp>
      <p:sp>
        <p:nvSpPr>
          <p:cNvPr id="5" name="Text 3"/>
          <p:cNvSpPr/>
          <p:nvPr/>
        </p:nvSpPr>
        <p:spPr>
          <a:xfrm>
            <a:off x="640080" y="502920"/>
            <a:ext cx="5486400" cy="320040"/>
          </a:xfrm>
          <a:prstGeom prst="rect">
            <a:avLst/>
          </a:prstGeom>
          <a:noFill/>
          <a:ln/>
        </p:spPr>
        <p:txBody>
          <a:bodyPr wrap="square" lIns="0" tIns="0" rIns="0" bIns="0" rtlCol="0" anchor="ctr"/>
          <a:lstStyle/>
          <a:p>
            <a:pPr indent="0" marL="0">
              <a:buNone/>
            </a:pPr>
            <a:r>
              <a:rPr lang="en-US" sz="1000" spc="500" kern="0" dirty="0">
                <a:solidFill>
                  <a:srgbClr val="E8B547"/>
                </a:solidFill>
                <a:latin typeface="Consolas" pitchFamily="34" charset="0"/>
                <a:ea typeface="Consolas" pitchFamily="34" charset="-122"/>
                <a:cs typeface="Consolas" pitchFamily="34" charset="-120"/>
              </a:rPr>
              <a:t>§ THE WHOLE THING IN NUMBERS</a:t>
            </a:r>
            <a:endParaRPr lang="en-US" sz="1000" dirty="0"/>
          </a:p>
        </p:txBody>
      </p:sp>
      <p:sp>
        <p:nvSpPr>
          <p:cNvPr id="6" name="Text 4"/>
          <p:cNvSpPr/>
          <p:nvPr/>
        </p:nvSpPr>
        <p:spPr>
          <a:xfrm>
            <a:off x="640080" y="868680"/>
            <a:ext cx="10972800" cy="2377440"/>
          </a:xfrm>
          <a:prstGeom prst="rect">
            <a:avLst/>
          </a:prstGeom>
          <a:noFill/>
          <a:ln/>
        </p:spPr>
        <p:txBody>
          <a:bodyPr wrap="square" lIns="0" tIns="0" rIns="0" bIns="0" rtlCol="0" anchor="ctr"/>
          <a:lstStyle/>
          <a:p>
            <a:pPr indent="0" marL="0">
              <a:buNone/>
            </a:pPr>
            <a:r>
              <a:rPr lang="en-US" sz="5600" spc="-100" kern="0" dirty="0">
                <a:solidFill>
                  <a:srgbClr val="EDEAE0"/>
                </a:solidFill>
                <a:latin typeface="Georgia" pitchFamily="34" charset="0"/>
                <a:ea typeface="Georgia" pitchFamily="34" charset="-122"/>
                <a:cs typeface="Georgia" pitchFamily="34" charset="-120"/>
              </a:rPr>
              <a:t>No frameworks.</a:t>
            </a:r>
            <a:endParaRPr lang="en-US" sz="5600" dirty="0"/>
          </a:p>
          <a:p>
            <a:pPr indent="0" marL="0">
              <a:buNone/>
            </a:pPr>
            <a:r>
              <a:rPr lang="en-US" sz="5600" spc="-100" kern="0" dirty="0">
                <a:solidFill>
                  <a:srgbClr val="EDEAE0"/>
                </a:solidFill>
                <a:latin typeface="Georgia" pitchFamily="34" charset="0"/>
                <a:ea typeface="Georgia" pitchFamily="34" charset="-122"/>
                <a:cs typeface="Georgia" pitchFamily="34" charset="-120"/>
              </a:rPr>
              <a:t>No build step.</a:t>
            </a:r>
            <a:endParaRPr lang="en-US" sz="5600" dirty="0"/>
          </a:p>
          <a:p>
            <a:pPr indent="0" marL="0">
              <a:buNone/>
            </a:pPr>
            <a:r>
              <a:rPr lang="en-US" sz="5600" i="1" spc="-100" kern="0" dirty="0">
                <a:solidFill>
                  <a:srgbClr val="E8B547"/>
                </a:solidFill>
                <a:latin typeface="Georgia" pitchFamily="34" charset="0"/>
                <a:ea typeface="Georgia" pitchFamily="34" charset="-122"/>
                <a:cs typeface="Georgia" pitchFamily="34" charset="-120"/>
              </a:rPr>
              <a:t>One file.</a:t>
            </a:r>
            <a:endParaRPr lang="en-US" sz="5600" dirty="0"/>
          </a:p>
        </p:txBody>
      </p:sp>
      <p:sp>
        <p:nvSpPr>
          <p:cNvPr id="7" name="Text 5"/>
          <p:cNvSpPr/>
          <p:nvPr/>
        </p:nvSpPr>
        <p:spPr>
          <a:xfrm>
            <a:off x="640080" y="3383280"/>
            <a:ext cx="10972800" cy="548640"/>
          </a:xfrm>
          <a:prstGeom prst="rect">
            <a:avLst/>
          </a:prstGeom>
          <a:noFill/>
          <a:ln/>
        </p:spPr>
        <p:txBody>
          <a:bodyPr wrap="square" lIns="0" tIns="0" rIns="0" bIns="0" rtlCol="0" anchor="ctr"/>
          <a:lstStyle/>
          <a:p>
            <a:pPr indent="0" marL="0">
              <a:buNone/>
            </a:pPr>
            <a:r>
              <a:rPr lang="en-US" sz="1300" i="1" dirty="0">
                <a:solidFill>
                  <a:srgbClr val="BCB5A6"/>
                </a:solidFill>
                <a:latin typeface="Calibri" pitchFamily="34" charset="0"/>
                <a:ea typeface="Calibri" pitchFamily="34" charset="-122"/>
                <a:cs typeface="Calibri" pitchFamily="34" charset="-120"/>
              </a:rPr>
              <a:t>No React, no jQuery, no npm install for the user. Just open index.html and it works — even offline. View source and read every line.</a:t>
            </a:r>
            <a:endParaRPr lang="en-US" sz="1300" dirty="0"/>
          </a:p>
        </p:txBody>
      </p:sp>
      <p:sp>
        <p:nvSpPr>
          <p:cNvPr id="8" name="Text 6"/>
          <p:cNvSpPr/>
          <p:nvPr/>
        </p:nvSpPr>
        <p:spPr>
          <a:xfrm>
            <a:off x="640080" y="411480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1</a:t>
            </a:r>
            <a:endParaRPr lang="en-US" sz="4200" dirty="0"/>
          </a:p>
        </p:txBody>
      </p:sp>
      <p:sp>
        <p:nvSpPr>
          <p:cNvPr id="9" name="Text 7"/>
          <p:cNvSpPr/>
          <p:nvPr/>
        </p:nvSpPr>
        <p:spPr>
          <a:xfrm>
            <a:off x="640080" y="475488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index.html</a:t>
            </a:r>
            <a:endParaRPr lang="en-US" sz="1000" dirty="0"/>
          </a:p>
        </p:txBody>
      </p:sp>
      <p:sp>
        <p:nvSpPr>
          <p:cNvPr id="10" name="Text 8"/>
          <p:cNvSpPr/>
          <p:nvPr/>
        </p:nvSpPr>
        <p:spPr>
          <a:xfrm>
            <a:off x="640080" y="498348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self-contained</a:t>
            </a:r>
            <a:endParaRPr lang="en-US" sz="1100" dirty="0"/>
          </a:p>
        </p:txBody>
      </p:sp>
      <p:sp>
        <p:nvSpPr>
          <p:cNvPr id="11" name="Text 9"/>
          <p:cNvSpPr/>
          <p:nvPr/>
        </p:nvSpPr>
        <p:spPr>
          <a:xfrm>
            <a:off x="4480560" y="411480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~70KB</a:t>
            </a:r>
            <a:endParaRPr lang="en-US" sz="4200" dirty="0"/>
          </a:p>
        </p:txBody>
      </p:sp>
      <p:sp>
        <p:nvSpPr>
          <p:cNvPr id="12" name="Text 10"/>
          <p:cNvSpPr/>
          <p:nvPr/>
        </p:nvSpPr>
        <p:spPr>
          <a:xfrm>
            <a:off x="4480560" y="475488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total weight</a:t>
            </a:r>
            <a:endParaRPr lang="en-US" sz="1000" dirty="0"/>
          </a:p>
        </p:txBody>
      </p:sp>
      <p:sp>
        <p:nvSpPr>
          <p:cNvPr id="13" name="Text 11"/>
          <p:cNvSpPr/>
          <p:nvPr/>
        </p:nvSpPr>
        <p:spPr>
          <a:xfrm>
            <a:off x="4480560" y="498348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unminified</a:t>
            </a:r>
            <a:endParaRPr lang="en-US" sz="1100" dirty="0"/>
          </a:p>
        </p:txBody>
      </p:sp>
      <p:sp>
        <p:nvSpPr>
          <p:cNvPr id="14" name="Text 12"/>
          <p:cNvSpPr/>
          <p:nvPr/>
        </p:nvSpPr>
        <p:spPr>
          <a:xfrm>
            <a:off x="8321040" y="411480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0</a:t>
            </a:r>
            <a:endParaRPr lang="en-US" sz="4200" dirty="0"/>
          </a:p>
        </p:txBody>
      </p:sp>
      <p:sp>
        <p:nvSpPr>
          <p:cNvPr id="15" name="Text 13"/>
          <p:cNvSpPr/>
          <p:nvPr/>
        </p:nvSpPr>
        <p:spPr>
          <a:xfrm>
            <a:off x="8321040" y="475488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dependencies</a:t>
            </a:r>
            <a:endParaRPr lang="en-US" sz="1000" dirty="0"/>
          </a:p>
        </p:txBody>
      </p:sp>
      <p:sp>
        <p:nvSpPr>
          <p:cNvPr id="16" name="Text 14"/>
          <p:cNvSpPr/>
          <p:nvPr/>
        </p:nvSpPr>
        <p:spPr>
          <a:xfrm>
            <a:off x="8321040" y="498348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no libraries</a:t>
            </a:r>
            <a:endParaRPr lang="en-US" sz="1100" dirty="0"/>
          </a:p>
        </p:txBody>
      </p:sp>
      <p:sp>
        <p:nvSpPr>
          <p:cNvPr id="17" name="Text 15"/>
          <p:cNvSpPr/>
          <p:nvPr/>
        </p:nvSpPr>
        <p:spPr>
          <a:xfrm>
            <a:off x="640080" y="539496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8</a:t>
            </a:r>
            <a:endParaRPr lang="en-US" sz="4200" dirty="0"/>
          </a:p>
        </p:txBody>
      </p:sp>
      <p:sp>
        <p:nvSpPr>
          <p:cNvPr id="18" name="Text 16"/>
          <p:cNvSpPr/>
          <p:nvPr/>
        </p:nvSpPr>
        <p:spPr>
          <a:xfrm>
            <a:off x="640080" y="60350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interactive tools</a:t>
            </a:r>
            <a:endParaRPr lang="en-US" sz="1000" dirty="0"/>
          </a:p>
        </p:txBody>
      </p:sp>
      <p:sp>
        <p:nvSpPr>
          <p:cNvPr id="19" name="Text 17"/>
          <p:cNvSpPr/>
          <p:nvPr/>
        </p:nvSpPr>
        <p:spPr>
          <a:xfrm>
            <a:off x="640080" y="62636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one per principle</a:t>
            </a:r>
            <a:endParaRPr lang="en-US" sz="1100" dirty="0"/>
          </a:p>
        </p:txBody>
      </p:sp>
      <p:sp>
        <p:nvSpPr>
          <p:cNvPr id="20" name="Text 18"/>
          <p:cNvSpPr/>
          <p:nvPr/>
        </p:nvSpPr>
        <p:spPr>
          <a:xfrm>
            <a:off x="4480560" y="539496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20</a:t>
            </a:r>
            <a:endParaRPr lang="en-US" sz="4200" dirty="0"/>
          </a:p>
        </p:txBody>
      </p:sp>
      <p:sp>
        <p:nvSpPr>
          <p:cNvPr id="21" name="Text 19"/>
          <p:cNvSpPr/>
          <p:nvPr/>
        </p:nvSpPr>
        <p:spPr>
          <a:xfrm>
            <a:off x="4480560" y="60350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mini mock-ups</a:t>
            </a:r>
            <a:endParaRPr lang="en-US" sz="1000" dirty="0"/>
          </a:p>
        </p:txBody>
      </p:sp>
      <p:sp>
        <p:nvSpPr>
          <p:cNvPr id="22" name="Text 20"/>
          <p:cNvSpPr/>
          <p:nvPr/>
        </p:nvSpPr>
        <p:spPr>
          <a:xfrm>
            <a:off x="4480560" y="62636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two per Nielsen rule</a:t>
            </a:r>
            <a:endParaRPr lang="en-US" sz="1100" dirty="0"/>
          </a:p>
        </p:txBody>
      </p:sp>
      <p:sp>
        <p:nvSpPr>
          <p:cNvPr id="23" name="Text 21"/>
          <p:cNvSpPr/>
          <p:nvPr/>
        </p:nvSpPr>
        <p:spPr>
          <a:xfrm>
            <a:off x="8321040" y="5394960"/>
            <a:ext cx="3657600" cy="640080"/>
          </a:xfrm>
          <a:prstGeom prst="rect">
            <a:avLst/>
          </a:prstGeom>
          <a:noFill/>
          <a:ln/>
        </p:spPr>
        <p:txBody>
          <a:bodyPr wrap="square" lIns="0" tIns="0" rIns="0" bIns="0" rtlCol="0" anchor="ctr"/>
          <a:lstStyle/>
          <a:p>
            <a:pPr indent="0" marL="0">
              <a:buNone/>
            </a:pPr>
            <a:r>
              <a:rPr lang="en-US" sz="4200" i="1" spc="-100" kern="0" dirty="0">
                <a:solidFill>
                  <a:srgbClr val="E8B547"/>
                </a:solidFill>
                <a:latin typeface="Georgia" pitchFamily="34" charset="0"/>
                <a:ea typeface="Georgia" pitchFamily="34" charset="-122"/>
                <a:cs typeface="Georgia" pitchFamily="34" charset="-120"/>
              </a:rPr>
              <a:t>9.6:1</a:t>
            </a:r>
            <a:endParaRPr lang="en-US" sz="4200" dirty="0"/>
          </a:p>
        </p:txBody>
      </p:sp>
      <p:sp>
        <p:nvSpPr>
          <p:cNvPr id="24" name="Text 22"/>
          <p:cNvSpPr/>
          <p:nvPr/>
        </p:nvSpPr>
        <p:spPr>
          <a:xfrm>
            <a:off x="8321040" y="6035040"/>
            <a:ext cx="3657600" cy="228600"/>
          </a:xfrm>
          <a:prstGeom prst="rect">
            <a:avLst/>
          </a:prstGeom>
          <a:noFill/>
          <a:ln/>
        </p:spPr>
        <p:txBody>
          <a:bodyPr wrap="square" lIns="0" tIns="0" rIns="0" bIns="0" rtlCol="0" anchor="ctr"/>
          <a:lstStyle/>
          <a:p>
            <a:pPr indent="0" marL="0">
              <a:buNone/>
            </a:pPr>
            <a:r>
              <a:rPr lang="en-US" sz="1000" spc="200" kern="0" dirty="0">
                <a:solidFill>
                  <a:srgbClr val="EDEAE0"/>
                </a:solidFill>
                <a:latin typeface="Consolas" pitchFamily="34" charset="0"/>
                <a:ea typeface="Consolas" pitchFamily="34" charset="-122"/>
                <a:cs typeface="Consolas" pitchFamily="34" charset="-120"/>
              </a:rPr>
              <a:t>body contrast</a:t>
            </a:r>
            <a:endParaRPr lang="en-US" sz="1000" dirty="0"/>
          </a:p>
        </p:txBody>
      </p:sp>
      <p:sp>
        <p:nvSpPr>
          <p:cNvPr id="25" name="Text 23"/>
          <p:cNvSpPr/>
          <p:nvPr/>
        </p:nvSpPr>
        <p:spPr>
          <a:xfrm>
            <a:off x="8321040" y="6263640"/>
            <a:ext cx="3657600" cy="274320"/>
          </a:xfrm>
          <a:prstGeom prst="rect">
            <a:avLst/>
          </a:prstGeom>
          <a:noFill/>
          <a:ln/>
        </p:spPr>
        <p:txBody>
          <a:bodyPr wrap="square" lIns="0" tIns="0" rIns="0" bIns="0" rtlCol="0" anchor="ctr"/>
          <a:lstStyle/>
          <a:p>
            <a:pPr indent="0" marL="0">
              <a:buNone/>
            </a:pPr>
            <a:r>
              <a:rPr lang="en-US" sz="1100" i="1" dirty="0">
                <a:solidFill>
                  <a:srgbClr val="BCB5A6"/>
                </a:solidFill>
                <a:latin typeface="Calibri" pitchFamily="34" charset="0"/>
                <a:ea typeface="Calibri" pitchFamily="34" charset="-122"/>
                <a:cs typeface="Calibri" pitchFamily="34" charset="-120"/>
              </a:rPr>
              <a:t>WCAG AAA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E"/>
        </a:solidFill>
      </p:bgPr>
    </p:bg>
    <p:spTree>
      <p:nvGrpSpPr>
        <p:cNvPr id="1" name=""/>
        <p:cNvGrpSpPr/>
        <p:nvPr/>
      </p:nvGrpSpPr>
      <p:grpSpPr>
        <a:xfrm>
          <a:off x="0" y="0"/>
          <a:ext cx="0" cy="0"/>
          <a:chOff x="0" y="0"/>
          <a:chExt cx="0" cy="0"/>
        </a:xfrm>
      </p:grpSpPr>
      <p:sp>
        <p:nvSpPr>
          <p:cNvPr id="2" name="Shape 0"/>
          <p:cNvSpPr/>
          <p:nvPr/>
        </p:nvSpPr>
        <p:spPr>
          <a:xfrm>
            <a:off x="0" y="45720"/>
            <a:ext cx="12161520" cy="45720"/>
          </a:xfrm>
          <a:prstGeom prst="rect">
            <a:avLst/>
          </a:prstGeom>
          <a:solidFill>
            <a:srgbClr val="E8B547"/>
          </a:solidFill>
          <a:ln/>
        </p:spPr>
      </p:sp>
      <p:sp>
        <p:nvSpPr>
          <p:cNvPr id="3" name="Shape 1"/>
          <p:cNvSpPr/>
          <p:nvPr/>
        </p:nvSpPr>
        <p:spPr>
          <a:xfrm>
            <a:off x="0" y="6766560"/>
            <a:ext cx="12161520" cy="45720"/>
          </a:xfrm>
          <a:prstGeom prst="rect">
            <a:avLst/>
          </a:prstGeom>
          <a:solidFill>
            <a:srgbClr val="E8B547"/>
          </a:solidFill>
          <a:ln/>
        </p:spPr>
      </p:sp>
      <p:sp>
        <p:nvSpPr>
          <p:cNvPr id="4" name="Text 2"/>
          <p:cNvSpPr/>
          <p:nvPr/>
        </p:nvSpPr>
        <p:spPr>
          <a:xfrm>
            <a:off x="640080" y="548640"/>
            <a:ext cx="10972800" cy="365760"/>
          </a:xfrm>
          <a:prstGeom prst="rect">
            <a:avLst/>
          </a:prstGeom>
          <a:noFill/>
          <a:ln/>
        </p:spPr>
        <p:txBody>
          <a:bodyPr wrap="square" lIns="0" tIns="0" rIns="0" bIns="0" rtlCol="0" anchor="ctr"/>
          <a:lstStyle/>
          <a:p>
            <a:pPr indent="0" marL="0">
              <a:buNone/>
            </a:pPr>
            <a:r>
              <a:rPr lang="en-US" sz="1100" spc="500" kern="0" dirty="0">
                <a:solidFill>
                  <a:srgbClr val="BCB5A6"/>
                </a:solidFill>
                <a:latin typeface="Consolas" pitchFamily="34" charset="0"/>
                <a:ea typeface="Consolas" pitchFamily="34" charset="-122"/>
                <a:cs typeface="Consolas" pitchFamily="34" charset="-120"/>
              </a:rPr>
              <a:t>TRY IT YOURSELF</a:t>
            </a:r>
            <a:endParaRPr lang="en-US" sz="1100" dirty="0"/>
          </a:p>
        </p:txBody>
      </p:sp>
      <p:sp>
        <p:nvSpPr>
          <p:cNvPr id="5" name="Text 3"/>
          <p:cNvSpPr/>
          <p:nvPr/>
        </p:nvSpPr>
        <p:spPr>
          <a:xfrm>
            <a:off x="640080" y="1554480"/>
            <a:ext cx="10972800" cy="1463040"/>
          </a:xfrm>
          <a:prstGeom prst="rect">
            <a:avLst/>
          </a:prstGeom>
          <a:noFill/>
          <a:ln/>
        </p:spPr>
        <p:txBody>
          <a:bodyPr wrap="square" lIns="0" tIns="0" rIns="0" bIns="0" rtlCol="0" anchor="ctr"/>
          <a:lstStyle/>
          <a:p>
            <a:pPr indent="0" marL="0">
              <a:buNone/>
            </a:pPr>
            <a:r>
              <a:rPr lang="en-US" sz="8800" spc="-200" kern="0" dirty="0">
                <a:solidFill>
                  <a:srgbClr val="EDEAE0"/>
                </a:solidFill>
                <a:latin typeface="Georgia" pitchFamily="34" charset="0"/>
                <a:ea typeface="Georgia" pitchFamily="34" charset="-122"/>
                <a:cs typeface="Georgia" pitchFamily="34" charset="-120"/>
              </a:rPr>
              <a:t>Visit </a:t>
            </a:r>
            <a:pPr indent="0" marL="0">
              <a:buNone/>
            </a:pPr>
            <a:r>
              <a:rPr lang="en-US" sz="8800" i="1" spc="-200" kern="0" dirty="0">
                <a:solidFill>
                  <a:srgbClr val="E8B547"/>
                </a:solidFill>
                <a:latin typeface="Georgia" pitchFamily="34" charset="0"/>
                <a:ea typeface="Georgia" pitchFamily="34" charset="-122"/>
                <a:cs typeface="Georgia" pitchFamily="34" charset="-120"/>
              </a:rPr>
              <a:t>the lab</a:t>
            </a:r>
            <a:pPr indent="0" marL="0">
              <a:buNone/>
            </a:pPr>
            <a:r>
              <a:rPr lang="en-US" sz="8800" spc="-200" kern="0" dirty="0">
                <a:solidFill>
                  <a:srgbClr val="EDEAE0"/>
                </a:solidFill>
                <a:latin typeface="Georgia" pitchFamily="34" charset="0"/>
                <a:ea typeface="Georgia" pitchFamily="34" charset="-122"/>
                <a:cs typeface="Georgia" pitchFamily="34" charset="-120"/>
              </a:rPr>
              <a:t>.</a:t>
            </a:r>
            <a:endParaRPr lang="en-US" sz="8800" dirty="0"/>
          </a:p>
        </p:txBody>
      </p:sp>
      <p:sp>
        <p:nvSpPr>
          <p:cNvPr id="6" name="Text 4"/>
          <p:cNvSpPr/>
          <p:nvPr/>
        </p:nvSpPr>
        <p:spPr>
          <a:xfrm>
            <a:off x="640080" y="3291840"/>
            <a:ext cx="10972800" cy="548640"/>
          </a:xfrm>
          <a:prstGeom prst="rect">
            <a:avLst/>
          </a:prstGeom>
          <a:noFill/>
          <a:ln/>
        </p:spPr>
        <p:txBody>
          <a:bodyPr wrap="square" lIns="0" tIns="0" rIns="0" bIns="0" rtlCol="0" anchor="ctr"/>
          <a:lstStyle/>
          <a:p>
            <a:pPr indent="0" marL="0">
              <a:buNone/>
            </a:pPr>
            <a:r>
              <a:rPr lang="en-US" sz="2400" dirty="0">
                <a:solidFill>
                  <a:srgbClr val="E8B547"/>
                </a:solidFill>
                <a:latin typeface="Consolas" pitchFamily="34" charset="0"/>
                <a:ea typeface="Consolas" pitchFamily="34" charset="-122"/>
                <a:cs typeface="Consolas" pitchFamily="34" charset="-120"/>
              </a:rPr>
              <a:t>yashvigala.github.io/HCI/lab/</a:t>
            </a:r>
            <a:endParaRPr lang="en-US" sz="2400" dirty="0"/>
          </a:p>
        </p:txBody>
      </p:sp>
      <p:sp>
        <p:nvSpPr>
          <p:cNvPr id="7" name="Text 5"/>
          <p:cNvSpPr/>
          <p:nvPr/>
        </p:nvSpPr>
        <p:spPr>
          <a:xfrm>
            <a:off x="640080" y="3840480"/>
            <a:ext cx="10972800" cy="365760"/>
          </a:xfrm>
          <a:prstGeom prst="rect">
            <a:avLst/>
          </a:prstGeom>
          <a:noFill/>
          <a:ln/>
        </p:spPr>
        <p:txBody>
          <a:bodyPr wrap="square" lIns="0" tIns="0" rIns="0" bIns="0" rtlCol="0" anchor="ctr"/>
          <a:lstStyle/>
          <a:p>
            <a:pPr indent="0" marL="0">
              <a:buNone/>
            </a:pPr>
            <a:r>
              <a:rPr lang="en-US" sz="1400" dirty="0">
                <a:solidFill>
                  <a:srgbClr val="BCB5A6"/>
                </a:solidFill>
                <a:latin typeface="Consolas" pitchFamily="34" charset="0"/>
                <a:ea typeface="Consolas" pitchFamily="34" charset="-122"/>
                <a:cs typeface="Consolas" pitchFamily="34" charset="-120"/>
              </a:rPr>
              <a:t>Source: github.com/yashvigala/HCI</a:t>
            </a:r>
            <a:endParaRPr lang="en-US" sz="1400" dirty="0"/>
          </a:p>
        </p:txBody>
      </p:sp>
      <p:sp>
        <p:nvSpPr>
          <p:cNvPr id="8" name="Text 6"/>
          <p:cNvSpPr/>
          <p:nvPr/>
        </p:nvSpPr>
        <p:spPr>
          <a:xfrm>
            <a:off x="640080" y="5760720"/>
            <a:ext cx="10972800" cy="365760"/>
          </a:xfrm>
          <a:prstGeom prst="rect">
            <a:avLst/>
          </a:prstGeom>
          <a:noFill/>
          <a:ln/>
        </p:spPr>
        <p:txBody>
          <a:bodyPr wrap="square" lIns="0" tIns="0" rIns="0" bIns="0" rtlCol="0" anchor="ctr"/>
          <a:lstStyle/>
          <a:p>
            <a:pPr indent="0" marL="0">
              <a:buNone/>
            </a:pPr>
            <a:r>
              <a:rPr lang="en-US" sz="1600" i="1" dirty="0">
                <a:solidFill>
                  <a:srgbClr val="EDEAE0"/>
                </a:solidFill>
                <a:latin typeface="Georgia" pitchFamily="34" charset="0"/>
                <a:ea typeface="Georgia" pitchFamily="34" charset="-122"/>
                <a:cs typeface="Georgia" pitchFamily="34" charset="-120"/>
              </a:rPr>
              <a:t>"If a door needs a sign, the door is broken."</a:t>
            </a:r>
            <a:endParaRPr lang="en-US" sz="1600" dirty="0"/>
          </a:p>
        </p:txBody>
      </p:sp>
      <p:sp>
        <p:nvSpPr>
          <p:cNvPr id="9" name="Text 7"/>
          <p:cNvSpPr/>
          <p:nvPr/>
        </p:nvSpPr>
        <p:spPr>
          <a:xfrm>
            <a:off x="640080" y="6172200"/>
            <a:ext cx="10972800" cy="365760"/>
          </a:xfrm>
          <a:prstGeom prst="rect">
            <a:avLst/>
          </a:prstGeom>
          <a:noFill/>
          <a:ln/>
        </p:spPr>
        <p:txBody>
          <a:bodyPr wrap="square" lIns="0" tIns="0" rIns="0" bIns="0" rtlCol="0" anchor="ctr"/>
          <a:lstStyle/>
          <a:p>
            <a:pPr indent="0" marL="0">
              <a:buNone/>
            </a:pPr>
            <a:r>
              <a:rPr lang="en-US" sz="1200" dirty="0">
                <a:solidFill>
                  <a:srgbClr val="BCB5A6"/>
                </a:solidFill>
                <a:latin typeface="Calibri" pitchFamily="34" charset="0"/>
                <a:ea typeface="Calibri" pitchFamily="34" charset="-122"/>
                <a:cs typeface="Calibri" pitchFamily="34" charset="-120"/>
              </a:rPr>
              <a:t>Pratham Prasoon · HCI 06.103.115 · IIT Guwahati · Spring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IIT Guwahati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Lab — HCI 06.103.115</dc:title>
  <dc:subject>PptxGenJS Presentation</dc:subject>
  <dc:creator>Pratham Prasoon</dc:creator>
  <cp:lastModifiedBy>Pratham Prasoon</cp:lastModifiedBy>
  <cp:revision>1</cp:revision>
  <dcterms:created xsi:type="dcterms:W3CDTF">2026-04-30T04:27:01Z</dcterms:created>
  <dcterms:modified xsi:type="dcterms:W3CDTF">2026-04-30T04:27:01Z</dcterms:modified>
</cp:coreProperties>
</file>